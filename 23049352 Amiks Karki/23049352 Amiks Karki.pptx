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71" r:id="rId12"/>
    <p:sldId id="265" r:id="rId13"/>
    <p:sldId id="272" r:id="rId14"/>
    <p:sldId id="274" r:id="rId15"/>
    <p:sldId id="275" r:id="rId16"/>
    <p:sldId id="273" r:id="rId17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950"/>
    <p:restoredTop sz="94676"/>
  </p:normalViewPr>
  <p:slideViewPr>
    <p:cSldViewPr>
      <p:cViewPr>
        <p:scale>
          <a:sx n="52" d="100"/>
          <a:sy n="52" d="100"/>
        </p:scale>
        <p:origin x="176" y="20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rgbClr val="0A0A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1" i="0">
                <a:solidFill>
                  <a:srgbClr val="0A0A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rgbClr val="0A0A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50" b="1" i="0">
                <a:solidFill>
                  <a:srgbClr val="0A0A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rgbClr val="0A0A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42263" y="3073011"/>
            <a:ext cx="6955155" cy="58870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01010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350" b="1" i="0">
                <a:solidFill>
                  <a:srgbClr val="0A0A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4639" y="3753511"/>
            <a:ext cx="3388020" cy="127661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84682" y="3574785"/>
            <a:ext cx="7973311" cy="204258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713267" y="8349321"/>
            <a:ext cx="0" cy="485140"/>
          </a:xfrm>
          <a:custGeom>
            <a:avLst/>
            <a:gdLst/>
            <a:ahLst/>
            <a:cxnLst/>
            <a:rect l="l" t="t" r="r" b="b"/>
            <a:pathLst>
              <a:path h="485140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133585" y="3191800"/>
            <a:ext cx="0" cy="2042795"/>
          </a:xfrm>
          <a:custGeom>
            <a:avLst/>
            <a:gdLst/>
            <a:ahLst/>
            <a:cxnLst/>
            <a:rect l="l" t="t" r="r" b="b"/>
            <a:pathLst>
              <a:path h="2042795">
                <a:moveTo>
                  <a:pt x="0" y="2042582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903713" y="3191800"/>
            <a:ext cx="0" cy="2042795"/>
          </a:xfrm>
          <a:custGeom>
            <a:avLst/>
            <a:gdLst/>
            <a:ahLst/>
            <a:cxnLst/>
            <a:rect l="l" t="t" r="r" b="b"/>
            <a:pathLst>
              <a:path h="2042795">
                <a:moveTo>
                  <a:pt x="0" y="2042582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5884456" y="6536529"/>
            <a:ext cx="0" cy="2502535"/>
          </a:xfrm>
          <a:custGeom>
            <a:avLst/>
            <a:gdLst/>
            <a:ahLst/>
            <a:cxnLst/>
            <a:rect l="l" t="t" r="r" b="b"/>
            <a:pathLst>
              <a:path h="2502534">
                <a:moveTo>
                  <a:pt x="0" y="250216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915843" y="2630090"/>
            <a:ext cx="0" cy="944880"/>
          </a:xfrm>
          <a:custGeom>
            <a:avLst/>
            <a:gdLst/>
            <a:ahLst/>
            <a:cxnLst/>
            <a:rect l="l" t="t" r="r" b="b"/>
            <a:pathLst>
              <a:path h="944879">
                <a:moveTo>
                  <a:pt x="0" y="944694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221529" y="2630090"/>
            <a:ext cx="0" cy="944880"/>
          </a:xfrm>
          <a:custGeom>
            <a:avLst/>
            <a:gdLst/>
            <a:ahLst/>
            <a:cxnLst/>
            <a:rect l="l" t="t" r="r" b="b"/>
            <a:pathLst>
              <a:path h="944879">
                <a:moveTo>
                  <a:pt x="0" y="94469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749959" y="2630089"/>
            <a:ext cx="153035" cy="944880"/>
          </a:xfrm>
          <a:custGeom>
            <a:avLst/>
            <a:gdLst/>
            <a:ahLst/>
            <a:cxnLst/>
            <a:rect l="l" t="t" r="r" b="b"/>
            <a:pathLst>
              <a:path w="153034" h="944879">
                <a:moveTo>
                  <a:pt x="0" y="0"/>
                </a:moveTo>
                <a:lnTo>
                  <a:pt x="152843" y="0"/>
                </a:lnTo>
                <a:lnTo>
                  <a:pt x="152843" y="944694"/>
                </a:lnTo>
                <a:lnTo>
                  <a:pt x="0" y="94469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1335858" y="6842916"/>
            <a:ext cx="0" cy="485140"/>
          </a:xfrm>
          <a:custGeom>
            <a:avLst/>
            <a:gdLst/>
            <a:ahLst/>
            <a:cxnLst/>
            <a:rect l="l" t="t" r="r" b="b"/>
            <a:pathLst>
              <a:path h="485140">
                <a:moveTo>
                  <a:pt x="0" y="48511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1374069" y="3013074"/>
            <a:ext cx="0" cy="561975"/>
          </a:xfrm>
          <a:custGeom>
            <a:avLst/>
            <a:gdLst/>
            <a:ahLst/>
            <a:cxnLst/>
            <a:rect l="l" t="t" r="r" b="b"/>
            <a:pathLst>
              <a:path h="561975">
                <a:moveTo>
                  <a:pt x="0" y="561710"/>
                </a:moveTo>
                <a:lnTo>
                  <a:pt x="0" y="0"/>
                </a:lnTo>
              </a:path>
            </a:pathLst>
          </a:custGeom>
          <a:ln w="50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1921756" y="2859880"/>
            <a:ext cx="0" cy="715010"/>
          </a:xfrm>
          <a:custGeom>
            <a:avLst/>
            <a:gdLst/>
            <a:ahLst/>
            <a:cxnLst/>
            <a:rect l="l" t="t" r="r" b="b"/>
            <a:pathLst>
              <a:path h="715010">
                <a:moveTo>
                  <a:pt x="0" y="71490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3271870" y="2859880"/>
            <a:ext cx="0" cy="715010"/>
          </a:xfrm>
          <a:custGeom>
            <a:avLst/>
            <a:gdLst/>
            <a:ahLst/>
            <a:cxnLst/>
            <a:rect l="l" t="t" r="r" b="b"/>
            <a:pathLst>
              <a:path h="715010">
                <a:moveTo>
                  <a:pt x="0" y="714903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14621983" y="2681154"/>
            <a:ext cx="0" cy="894080"/>
          </a:xfrm>
          <a:custGeom>
            <a:avLst/>
            <a:gdLst/>
            <a:ahLst/>
            <a:cxnLst/>
            <a:rect l="l" t="t" r="r" b="b"/>
            <a:pathLst>
              <a:path h="894079">
                <a:moveTo>
                  <a:pt x="0" y="893629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5972096" y="2630090"/>
            <a:ext cx="0" cy="944880"/>
          </a:xfrm>
          <a:custGeom>
            <a:avLst/>
            <a:gdLst/>
            <a:ahLst/>
            <a:cxnLst/>
            <a:rect l="l" t="t" r="r" b="b"/>
            <a:pathLst>
              <a:path h="944879">
                <a:moveTo>
                  <a:pt x="0" y="94469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16494310" y="2630089"/>
            <a:ext cx="0" cy="944880"/>
          </a:xfrm>
          <a:custGeom>
            <a:avLst/>
            <a:gdLst/>
            <a:ahLst/>
            <a:cxnLst/>
            <a:rect l="l" t="t" r="r" b="b"/>
            <a:pathLst>
              <a:path h="944879">
                <a:moveTo>
                  <a:pt x="0" y="944694"/>
                </a:moveTo>
                <a:lnTo>
                  <a:pt x="0" y="0"/>
                </a:lnTo>
              </a:path>
            </a:pathLst>
          </a:custGeom>
          <a:ln w="2547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8915843" y="2630089"/>
            <a:ext cx="7616825" cy="0"/>
          </a:xfrm>
          <a:custGeom>
            <a:avLst/>
            <a:gdLst/>
            <a:ahLst/>
            <a:cxnLst/>
            <a:rect l="l" t="t" r="r" b="b"/>
            <a:pathLst>
              <a:path w="7616825">
                <a:moveTo>
                  <a:pt x="0" y="0"/>
                </a:moveTo>
                <a:lnTo>
                  <a:pt x="761667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8966791" y="2859880"/>
            <a:ext cx="7489825" cy="0"/>
          </a:xfrm>
          <a:custGeom>
            <a:avLst/>
            <a:gdLst/>
            <a:ahLst/>
            <a:cxnLst/>
            <a:rect l="l" t="t" r="r" b="b"/>
            <a:pathLst>
              <a:path w="7489825">
                <a:moveTo>
                  <a:pt x="5222136" y="0"/>
                </a:moveTo>
                <a:lnTo>
                  <a:pt x="7489308" y="0"/>
                </a:lnTo>
              </a:path>
              <a:path w="7489825">
                <a:moveTo>
                  <a:pt x="0" y="0"/>
                </a:moveTo>
                <a:lnTo>
                  <a:pt x="1757694" y="0"/>
                </a:lnTo>
              </a:path>
            </a:pathLst>
          </a:custGeom>
          <a:ln w="255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120848" y="3204566"/>
            <a:ext cx="3821429" cy="0"/>
          </a:xfrm>
          <a:custGeom>
            <a:avLst/>
            <a:gdLst/>
            <a:ahLst/>
            <a:cxnLst/>
            <a:rect l="l" t="t" r="r" b="b"/>
            <a:pathLst>
              <a:path w="3821429">
                <a:moveTo>
                  <a:pt x="0" y="0"/>
                </a:moveTo>
                <a:lnTo>
                  <a:pt x="382107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11488701" y="3370526"/>
            <a:ext cx="4967605" cy="0"/>
          </a:xfrm>
          <a:custGeom>
            <a:avLst/>
            <a:gdLst/>
            <a:ahLst/>
            <a:cxnLst/>
            <a:rect l="l" t="t" r="r" b="b"/>
            <a:pathLst>
              <a:path w="4967605">
                <a:moveTo>
                  <a:pt x="0" y="0"/>
                </a:moveTo>
                <a:lnTo>
                  <a:pt x="496739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9196055" y="3370526"/>
            <a:ext cx="1452245" cy="0"/>
          </a:xfrm>
          <a:custGeom>
            <a:avLst/>
            <a:gdLst/>
            <a:ahLst/>
            <a:cxnLst/>
            <a:rect l="l" t="t" r="r" b="b"/>
            <a:pathLst>
              <a:path w="1452245">
                <a:moveTo>
                  <a:pt x="0" y="0"/>
                </a:moveTo>
                <a:lnTo>
                  <a:pt x="1452008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11565122" y="4915229"/>
            <a:ext cx="1044575" cy="0"/>
          </a:xfrm>
          <a:custGeom>
            <a:avLst/>
            <a:gdLst/>
            <a:ahLst/>
            <a:cxnLst/>
            <a:rect l="l" t="t" r="r" b="b"/>
            <a:pathLst>
              <a:path w="1044575">
                <a:moveTo>
                  <a:pt x="0" y="0"/>
                </a:moveTo>
                <a:lnTo>
                  <a:pt x="1044427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10495221" y="4915229"/>
            <a:ext cx="535305" cy="0"/>
          </a:xfrm>
          <a:custGeom>
            <a:avLst/>
            <a:gdLst/>
            <a:ahLst/>
            <a:cxnLst/>
            <a:rect l="l" t="t" r="r" b="b"/>
            <a:pathLst>
              <a:path w="535304">
                <a:moveTo>
                  <a:pt x="0" y="0"/>
                </a:moveTo>
                <a:lnTo>
                  <a:pt x="534950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9094160" y="4915229"/>
            <a:ext cx="815340" cy="0"/>
          </a:xfrm>
          <a:custGeom>
            <a:avLst/>
            <a:gdLst/>
            <a:ahLst/>
            <a:cxnLst/>
            <a:rect l="l" t="t" r="r" b="b"/>
            <a:pathLst>
              <a:path w="815340">
                <a:moveTo>
                  <a:pt x="0" y="0"/>
                </a:moveTo>
                <a:lnTo>
                  <a:pt x="815162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1120848" y="5208850"/>
            <a:ext cx="3821429" cy="0"/>
          </a:xfrm>
          <a:custGeom>
            <a:avLst/>
            <a:gdLst/>
            <a:ahLst/>
            <a:cxnLst/>
            <a:rect l="l" t="t" r="r" b="b"/>
            <a:pathLst>
              <a:path w="3821429">
                <a:moveTo>
                  <a:pt x="0" y="0"/>
                </a:moveTo>
                <a:lnTo>
                  <a:pt x="382107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10113113" y="5425875"/>
            <a:ext cx="484505" cy="0"/>
          </a:xfrm>
          <a:custGeom>
            <a:avLst/>
            <a:gdLst/>
            <a:ahLst/>
            <a:cxnLst/>
            <a:rect l="l" t="t" r="r" b="b"/>
            <a:pathLst>
              <a:path w="484504">
                <a:moveTo>
                  <a:pt x="0" y="0"/>
                </a:moveTo>
                <a:lnTo>
                  <a:pt x="484002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9196055" y="5425875"/>
            <a:ext cx="459105" cy="0"/>
          </a:xfrm>
          <a:custGeom>
            <a:avLst/>
            <a:gdLst/>
            <a:ahLst/>
            <a:cxnLst/>
            <a:rect l="l" t="t" r="r" b="b"/>
            <a:pathLst>
              <a:path w="459104">
                <a:moveTo>
                  <a:pt x="0" y="0"/>
                </a:moveTo>
                <a:lnTo>
                  <a:pt x="458529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11641544" y="9025927"/>
            <a:ext cx="5171440" cy="0"/>
          </a:xfrm>
          <a:custGeom>
            <a:avLst/>
            <a:gdLst/>
            <a:ahLst/>
            <a:cxnLst/>
            <a:rect l="l" t="t" r="r" b="b"/>
            <a:pathLst>
              <a:path w="5171440">
                <a:moveTo>
                  <a:pt x="0" y="0"/>
                </a:moveTo>
                <a:lnTo>
                  <a:pt x="517118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6190142" y="9025927"/>
            <a:ext cx="5171440" cy="0"/>
          </a:xfrm>
          <a:custGeom>
            <a:avLst/>
            <a:gdLst/>
            <a:ahLst/>
            <a:cxnLst/>
            <a:rect l="l" t="t" r="r" b="b"/>
            <a:pathLst>
              <a:path w="5171440">
                <a:moveTo>
                  <a:pt x="0" y="0"/>
                </a:moveTo>
                <a:lnTo>
                  <a:pt x="5171189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738741" y="9025927"/>
            <a:ext cx="5146040" cy="0"/>
          </a:xfrm>
          <a:custGeom>
            <a:avLst/>
            <a:gdLst/>
            <a:ahLst/>
            <a:cxnLst/>
            <a:rect l="l" t="t" r="r" b="b"/>
            <a:pathLst>
              <a:path w="5146040">
                <a:moveTo>
                  <a:pt x="0" y="0"/>
                </a:moveTo>
                <a:lnTo>
                  <a:pt x="5145715" y="0"/>
                </a:lnTo>
              </a:path>
            </a:pathLst>
          </a:custGeom>
          <a:ln w="1276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93116" y="172673"/>
            <a:ext cx="14103734" cy="1700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350" b="1" i="0">
                <a:solidFill>
                  <a:srgbClr val="0A0A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5176" y="2658991"/>
            <a:ext cx="7070725" cy="3418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1" i="0">
                <a:solidFill>
                  <a:srgbClr val="0A0A0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91879" y="102393"/>
            <a:ext cx="1120848" cy="145534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8388287" y="5257800"/>
            <a:ext cx="45719" cy="2502535"/>
          </a:xfrm>
          <a:custGeom>
            <a:avLst/>
            <a:gdLst/>
            <a:ahLst/>
            <a:cxnLst/>
            <a:rect l="l" t="t" r="r" b="b"/>
            <a:pathLst>
              <a:path h="2502534">
                <a:moveTo>
                  <a:pt x="0" y="2502163"/>
                </a:moveTo>
                <a:lnTo>
                  <a:pt x="0" y="0"/>
                </a:lnTo>
              </a:path>
            </a:pathLst>
          </a:custGeom>
          <a:ln w="1273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pc="-1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04742" y="5106273"/>
            <a:ext cx="16670458" cy="0"/>
          </a:xfrm>
          <a:custGeom>
            <a:avLst/>
            <a:gdLst/>
            <a:ahLst/>
            <a:cxnLst/>
            <a:rect l="l" t="t" r="r" b="b"/>
            <a:pathLst>
              <a:path w="15182850">
                <a:moveTo>
                  <a:pt x="0" y="0"/>
                </a:moveTo>
                <a:lnTo>
                  <a:pt x="15182407" y="0"/>
                </a:lnTo>
              </a:path>
            </a:pathLst>
          </a:custGeom>
          <a:ln w="255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pc="-150"/>
          </a:p>
        </p:txBody>
      </p:sp>
      <p:sp>
        <p:nvSpPr>
          <p:cNvPr id="6" name="object 6"/>
          <p:cNvSpPr txBox="1"/>
          <p:nvPr/>
        </p:nvSpPr>
        <p:spPr>
          <a:xfrm>
            <a:off x="15205760" y="1519661"/>
            <a:ext cx="2069464" cy="67945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1900" u="heavy" spc="65" dirty="0">
                <a:solidFill>
                  <a:srgbClr val="AE464D"/>
                </a:solidFill>
                <a:uFill>
                  <a:solidFill>
                    <a:srgbClr val="4D5457"/>
                  </a:solidFill>
                </a:uFill>
                <a:latin typeface="Arial"/>
                <a:cs typeface="Arial"/>
              </a:rPr>
              <a:t>f'i</a:t>
            </a:r>
            <a:r>
              <a:rPr sz="1900" u="heavy" spc="65" dirty="0">
                <a:solidFill>
                  <a:srgbClr val="A16266"/>
                </a:solidFill>
                <a:uFill>
                  <a:solidFill>
                    <a:srgbClr val="4D5457"/>
                  </a:solidFill>
                </a:uFill>
                <a:latin typeface="Arial"/>
                <a:cs typeface="Arial"/>
              </a:rPr>
              <a:t>slington</a:t>
            </a:r>
            <a:r>
              <a:rPr sz="1900" u="heavy" spc="260" dirty="0">
                <a:solidFill>
                  <a:srgbClr val="A16266"/>
                </a:solidFill>
                <a:uFill>
                  <a:solidFill>
                    <a:srgbClr val="4D5457"/>
                  </a:solidFill>
                </a:uFill>
                <a:latin typeface="Arial"/>
                <a:cs typeface="Arial"/>
              </a:rPr>
              <a:t> </a:t>
            </a:r>
            <a:r>
              <a:rPr sz="1900" u="heavy" spc="60" dirty="0">
                <a:solidFill>
                  <a:srgbClr val="4D5457"/>
                </a:solidFill>
                <a:uFill>
                  <a:solidFill>
                    <a:srgbClr val="4D5457"/>
                  </a:solidFill>
                </a:uFill>
                <a:latin typeface="Arial"/>
                <a:cs typeface="Arial"/>
              </a:rPr>
              <a:t>col</a:t>
            </a:r>
            <a:r>
              <a:rPr sz="1900" u="heavy" spc="60" dirty="0">
                <a:solidFill>
                  <a:srgbClr val="2F2B4B"/>
                </a:solidFill>
                <a:uFill>
                  <a:solidFill>
                    <a:srgbClr val="4D5457"/>
                  </a:solidFill>
                </a:uFill>
                <a:latin typeface="Arial"/>
                <a:cs typeface="Arial"/>
              </a:rPr>
              <a:t>l</a:t>
            </a:r>
            <a:r>
              <a:rPr sz="1900" u="heavy" spc="60" dirty="0">
                <a:solidFill>
                  <a:srgbClr val="4D5457"/>
                </a:solidFill>
                <a:uFill>
                  <a:solidFill>
                    <a:srgbClr val="4D5457"/>
                  </a:solidFill>
                </a:uFill>
                <a:latin typeface="Arial"/>
                <a:cs typeface="Arial"/>
              </a:rPr>
              <a:t>ege</a:t>
            </a:r>
            <a:endParaRPr sz="1900" dirty="0">
              <a:latin typeface="Arial"/>
              <a:cs typeface="Arial"/>
            </a:endParaRPr>
          </a:p>
          <a:p>
            <a:pPr marR="52705" algn="ctr">
              <a:lnSpc>
                <a:spcPct val="100000"/>
              </a:lnSpc>
              <a:spcBef>
                <a:spcPts val="430"/>
              </a:spcBef>
            </a:pPr>
            <a:r>
              <a:rPr sz="1600" u="heavy" spc="-114" dirty="0">
                <a:solidFill>
                  <a:srgbClr val="707274"/>
                </a:solidFill>
                <a:uFill>
                  <a:solidFill>
                    <a:srgbClr val="707274"/>
                  </a:solidFill>
                </a:uFill>
                <a:latin typeface="Times New Roman"/>
                <a:cs typeface="Times New Roman"/>
              </a:rPr>
              <a:t>(;it�c</a:t>
            </a:r>
            <a:r>
              <a:rPr sz="1600" u="heavy" spc="-114" dirty="0">
                <a:solidFill>
                  <a:srgbClr val="4D5457"/>
                </a:solidFill>
                <a:uFill>
                  <a:solidFill>
                    <a:srgbClr val="707274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600" u="heavy" spc="-114" dirty="0">
                <a:solidFill>
                  <a:srgbClr val="707274"/>
                </a:solidFill>
                <a:uFill>
                  <a:solidFill>
                    <a:srgbClr val="707274"/>
                  </a:solidFill>
                </a:uFill>
                <a:latin typeface="Times New Roman"/>
                <a:cs typeface="Times New Roman"/>
              </a:rPr>
              <a:t>$_Co</a:t>
            </a:r>
            <a:r>
              <a:rPr sz="1600" u="heavy" spc="-114" dirty="0">
                <a:solidFill>
                  <a:srgbClr val="4D5457"/>
                </a:solidFill>
                <a:uFill>
                  <a:solidFill>
                    <a:srgbClr val="707274"/>
                  </a:solidFill>
                </a:uFill>
                <a:latin typeface="Times New Roman"/>
                <a:cs typeface="Times New Roman"/>
              </a:rPr>
              <a:t>l</a:t>
            </a:r>
            <a:r>
              <a:rPr sz="1600" u="heavy" spc="120" dirty="0">
                <a:solidFill>
                  <a:srgbClr val="4D5457"/>
                </a:solidFill>
                <a:uFill>
                  <a:solidFill>
                    <a:srgbClr val="707274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u="heavy" spc="-45" dirty="0">
                <a:solidFill>
                  <a:srgbClr val="707274"/>
                </a:solidFill>
                <a:uFill>
                  <a:solidFill>
                    <a:srgbClr val="707274"/>
                  </a:solidFill>
                </a:uFill>
                <a:latin typeface="Times New Roman"/>
                <a:cs typeface="Times New Roman"/>
              </a:rPr>
              <a:t>cf&gt;ffi51)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68355" y="963868"/>
            <a:ext cx="12479519" cy="3254737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065" marR="5080" indent="36830" algn="l">
              <a:lnSpc>
                <a:spcPts val="6330"/>
              </a:lnSpc>
              <a:spcBef>
                <a:spcPts val="160"/>
              </a:spcBef>
            </a:pPr>
            <a:r>
              <a:rPr sz="5100" spc="135" dirty="0">
                <a:solidFill>
                  <a:srgbClr val="000000"/>
                </a:solidFill>
              </a:rPr>
              <a:t>Comparative</a:t>
            </a:r>
            <a:r>
              <a:rPr sz="5100" spc="300" dirty="0">
                <a:solidFill>
                  <a:srgbClr val="000000"/>
                </a:solidFill>
              </a:rPr>
              <a:t> </a:t>
            </a:r>
            <a:r>
              <a:rPr sz="5100" spc="100" dirty="0">
                <a:solidFill>
                  <a:srgbClr val="000000"/>
                </a:solidFill>
              </a:rPr>
              <a:t>Analysis</a:t>
            </a:r>
            <a:r>
              <a:rPr sz="5100" spc="-30" dirty="0">
                <a:solidFill>
                  <a:srgbClr val="000000"/>
                </a:solidFill>
              </a:rPr>
              <a:t> </a:t>
            </a:r>
            <a:r>
              <a:rPr sz="5100" spc="120" dirty="0">
                <a:solidFill>
                  <a:srgbClr val="000000"/>
                </a:solidFill>
              </a:rPr>
              <a:t>of</a:t>
            </a:r>
            <a:r>
              <a:rPr sz="5100" spc="-135" dirty="0">
                <a:solidFill>
                  <a:srgbClr val="000000"/>
                </a:solidFill>
              </a:rPr>
              <a:t> </a:t>
            </a:r>
            <a:br>
              <a:rPr lang="en-US" sz="5100" spc="-135" dirty="0">
                <a:solidFill>
                  <a:srgbClr val="000000"/>
                </a:solidFill>
              </a:rPr>
            </a:br>
            <a:r>
              <a:rPr sz="5100" spc="245" dirty="0">
                <a:solidFill>
                  <a:srgbClr val="000000"/>
                </a:solidFill>
              </a:rPr>
              <a:t>Deep</a:t>
            </a:r>
            <a:r>
              <a:rPr sz="5100" spc="-185" dirty="0">
                <a:solidFill>
                  <a:srgbClr val="000000"/>
                </a:solidFill>
              </a:rPr>
              <a:t> </a:t>
            </a:r>
            <a:r>
              <a:rPr sz="5100" spc="90" dirty="0">
                <a:solidFill>
                  <a:srgbClr val="000000"/>
                </a:solidFill>
              </a:rPr>
              <a:t>Learning </a:t>
            </a:r>
            <a:r>
              <a:rPr sz="5100" spc="145" dirty="0">
                <a:solidFill>
                  <a:srgbClr val="000000"/>
                </a:solidFill>
              </a:rPr>
              <a:t>Architectures</a:t>
            </a:r>
            <a:r>
              <a:rPr sz="5100" spc="195" dirty="0">
                <a:solidFill>
                  <a:srgbClr val="000000"/>
                </a:solidFill>
              </a:rPr>
              <a:t> </a:t>
            </a:r>
            <a:br>
              <a:rPr lang="en-US" sz="5100" spc="195" dirty="0">
                <a:solidFill>
                  <a:srgbClr val="000000"/>
                </a:solidFill>
              </a:rPr>
            </a:br>
            <a:r>
              <a:rPr sz="5100" spc="165" dirty="0">
                <a:solidFill>
                  <a:srgbClr val="000000"/>
                </a:solidFill>
              </a:rPr>
              <a:t>(LSTM,</a:t>
            </a:r>
            <a:r>
              <a:rPr sz="5100" spc="-175" dirty="0">
                <a:solidFill>
                  <a:srgbClr val="000000"/>
                </a:solidFill>
              </a:rPr>
              <a:t> </a:t>
            </a:r>
            <a:r>
              <a:rPr sz="5100" spc="150" dirty="0">
                <a:solidFill>
                  <a:srgbClr val="000000"/>
                </a:solidFill>
              </a:rPr>
              <a:t>CNN,</a:t>
            </a:r>
            <a:r>
              <a:rPr sz="5100" spc="-225" dirty="0">
                <a:solidFill>
                  <a:srgbClr val="000000"/>
                </a:solidFill>
              </a:rPr>
              <a:t> </a:t>
            </a:r>
            <a:r>
              <a:rPr sz="5100" spc="204" dirty="0">
                <a:solidFill>
                  <a:srgbClr val="000000"/>
                </a:solidFill>
              </a:rPr>
              <a:t>and</a:t>
            </a:r>
            <a:r>
              <a:rPr sz="5100" spc="-220" dirty="0">
                <a:solidFill>
                  <a:srgbClr val="000000"/>
                </a:solidFill>
              </a:rPr>
              <a:t> </a:t>
            </a:r>
            <a:r>
              <a:rPr sz="5100" spc="90" dirty="0">
                <a:solidFill>
                  <a:srgbClr val="000000"/>
                </a:solidFill>
              </a:rPr>
              <a:t>Transformers)</a:t>
            </a:r>
            <a:endParaRPr sz="5100" dirty="0"/>
          </a:p>
          <a:p>
            <a:pPr marL="33655" algn="l">
              <a:lnSpc>
                <a:spcPct val="100000"/>
              </a:lnSpc>
              <a:spcBef>
                <a:spcPts val="170"/>
              </a:spcBef>
            </a:pPr>
            <a:r>
              <a:rPr sz="5100" spc="85" dirty="0">
                <a:solidFill>
                  <a:srgbClr val="000000"/>
                </a:solidFill>
              </a:rPr>
              <a:t>for</a:t>
            </a:r>
            <a:r>
              <a:rPr sz="5100" spc="-195" dirty="0">
                <a:solidFill>
                  <a:srgbClr val="000000"/>
                </a:solidFill>
              </a:rPr>
              <a:t> </a:t>
            </a:r>
            <a:r>
              <a:rPr sz="5100" spc="-20" dirty="0">
                <a:solidFill>
                  <a:srgbClr val="000000"/>
                </a:solidFill>
              </a:rPr>
              <a:t>NEPSE</a:t>
            </a:r>
            <a:r>
              <a:rPr sz="5100" spc="-110" dirty="0">
                <a:solidFill>
                  <a:srgbClr val="000000"/>
                </a:solidFill>
              </a:rPr>
              <a:t> </a:t>
            </a:r>
            <a:r>
              <a:rPr sz="5100" spc="130" dirty="0">
                <a:solidFill>
                  <a:srgbClr val="000000"/>
                </a:solidFill>
              </a:rPr>
              <a:t>Stock</a:t>
            </a:r>
            <a:r>
              <a:rPr sz="5100" spc="-245" dirty="0">
                <a:solidFill>
                  <a:srgbClr val="000000"/>
                </a:solidFill>
              </a:rPr>
              <a:t> </a:t>
            </a:r>
            <a:r>
              <a:rPr sz="5100" spc="145" dirty="0">
                <a:solidFill>
                  <a:srgbClr val="000000"/>
                </a:solidFill>
              </a:rPr>
              <a:t>Price</a:t>
            </a:r>
            <a:r>
              <a:rPr sz="5100" spc="-355" dirty="0">
                <a:solidFill>
                  <a:srgbClr val="000000"/>
                </a:solidFill>
              </a:rPr>
              <a:t> </a:t>
            </a:r>
            <a:r>
              <a:rPr sz="5100" spc="105" dirty="0">
                <a:solidFill>
                  <a:srgbClr val="000000"/>
                </a:solidFill>
              </a:rPr>
              <a:t>Prediction</a:t>
            </a:r>
            <a:endParaRPr sz="5100" dirty="0"/>
          </a:p>
        </p:txBody>
      </p:sp>
      <p:sp>
        <p:nvSpPr>
          <p:cNvPr id="8" name="object 8"/>
          <p:cNvSpPr txBox="1"/>
          <p:nvPr/>
        </p:nvSpPr>
        <p:spPr>
          <a:xfrm>
            <a:off x="940421" y="5174000"/>
            <a:ext cx="5906125" cy="24233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">
              <a:lnSpc>
                <a:spcPct val="149200"/>
              </a:lnSpc>
              <a:spcBef>
                <a:spcPts val="95"/>
              </a:spcBef>
            </a:pPr>
            <a:r>
              <a:rPr sz="3650" b="1" spc="-15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Name: </a:t>
            </a:r>
            <a:r>
              <a:rPr sz="3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Amiks Karki </a:t>
            </a:r>
            <a:r>
              <a:rPr sz="3650" b="1" spc="-15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London Met ID: </a:t>
            </a:r>
            <a:r>
              <a:rPr sz="3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23049352 </a:t>
            </a:r>
            <a:endParaRPr lang="en-US" sz="3400" spc="-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635">
              <a:lnSpc>
                <a:spcPct val="149200"/>
              </a:lnSpc>
              <a:spcBef>
                <a:spcPts val="95"/>
              </a:spcBef>
            </a:pPr>
            <a:r>
              <a:rPr sz="3650" b="1" spc="-15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College ID</a:t>
            </a:r>
            <a:r>
              <a:rPr sz="3650" b="1" spc="-150" dirty="0">
                <a:solidFill>
                  <a:srgbClr val="7072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3650" b="1" spc="-150" dirty="0">
                <a:solidFill>
                  <a:srgbClr val="70727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NP01CP4A230172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894125" y="5199532"/>
            <a:ext cx="8073075" cy="1570302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indent="8890">
              <a:lnSpc>
                <a:spcPct val="148000"/>
              </a:lnSpc>
              <a:spcBef>
                <a:spcPts val="45"/>
              </a:spcBef>
            </a:pPr>
            <a:r>
              <a:rPr sz="3650" b="1" spc="-15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Module: </a:t>
            </a:r>
            <a:r>
              <a:rPr sz="3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CU6051NI Artificial Intelligence </a:t>
            </a:r>
            <a:r>
              <a:rPr sz="3650" b="1" spc="-15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Submission</a:t>
            </a:r>
            <a:r>
              <a:rPr sz="3650" spc="-15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50" b="1" spc="-15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r>
              <a:rPr sz="3650" spc="-15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January 21, 2026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95572" y="8329793"/>
            <a:ext cx="13762355" cy="45332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850" i="1" spc="-25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Unlocking</a:t>
            </a:r>
            <a:r>
              <a:rPr sz="2850" i="1" spc="-135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50" i="1" spc="-25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</a:t>
            </a:r>
            <a:r>
              <a:rPr sz="2850" i="1" spc="-165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50" i="1" spc="-35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patterns</a:t>
            </a:r>
            <a:r>
              <a:rPr sz="2850" i="1" spc="-6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50" i="1" spc="95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50" i="1" spc="-29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50" i="1" spc="-35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emerging</a:t>
            </a:r>
            <a:r>
              <a:rPr sz="2850" i="1" spc="-85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50" i="1" spc="-114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economies</a:t>
            </a:r>
            <a:r>
              <a:rPr sz="2850" i="1" spc="-6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50" i="1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2850" i="1" spc="-18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50" i="1" spc="-13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sz="2850" i="1" spc="-6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50" i="1" spc="-17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sz="2850" i="1" spc="-3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50" i="1" spc="-10" dirty="0">
                <a:solidFill>
                  <a:srgbClr val="4D54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modeling.</a:t>
            </a:r>
            <a:endParaRPr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C846662-8457-4F8A-7B71-D9571B2CD6A7}"/>
              </a:ext>
            </a:extLst>
          </p:cNvPr>
          <p:cNvGrpSpPr/>
          <p:nvPr/>
        </p:nvGrpSpPr>
        <p:grpSpPr>
          <a:xfrm>
            <a:off x="10408838" y="76200"/>
            <a:ext cx="6866386" cy="2753782"/>
            <a:chOff x="12471400" y="8363142"/>
            <a:chExt cx="4508122" cy="1481797"/>
          </a:xfrm>
        </p:grpSpPr>
        <p:pic>
          <p:nvPicPr>
            <p:cNvPr id="13" name="Picture 12" descr="London Met Logo">
              <a:extLst>
                <a:ext uri="{FF2B5EF4-FFF2-40B4-BE49-F238E27FC236}">
                  <a16:creationId xmlns:a16="http://schemas.microsoft.com/office/drawing/2014/main" id="{64667802-90A8-B583-5EFB-AD07A9E13283}"/>
                </a:ext>
              </a:extLst>
            </p:cNvPr>
            <p:cNvPicPr>
              <a:picLocks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76400" y="8363142"/>
              <a:ext cx="2603122" cy="1194777"/>
            </a:xfrm>
            <a:prstGeom prst="rect">
              <a:avLst/>
            </a:prstGeom>
            <a:noFill/>
          </p:spPr>
        </p:pic>
        <p:pic>
          <p:nvPicPr>
            <p:cNvPr id="14" name="image2.png" descr="logo">
              <a:extLst>
                <a:ext uri="{FF2B5EF4-FFF2-40B4-BE49-F238E27FC236}">
                  <a16:creationId xmlns:a16="http://schemas.microsoft.com/office/drawing/2014/main" id="{9B8430C9-58F8-8750-5BD4-B2208E5B9C2C}"/>
                </a:ext>
              </a:extLst>
            </p:cNvPr>
            <p:cNvPicPr/>
            <p:nvPr/>
          </p:nvPicPr>
          <p:blipFill>
            <a:blip r:embed="rId4"/>
            <a:srcRect/>
            <a:stretch>
              <a:fillRect/>
            </a:stretch>
          </p:blipFill>
          <p:spPr>
            <a:xfrm>
              <a:off x="12471400" y="8363142"/>
              <a:ext cx="1752600" cy="1481797"/>
            </a:xfrm>
            <a:prstGeom prst="rect">
              <a:avLst/>
            </a:prstGeom>
            <a:ln/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5162" y="2068380"/>
            <a:ext cx="7234570" cy="543837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750263" y="3370526"/>
            <a:ext cx="0" cy="6332220"/>
          </a:xfrm>
          <a:custGeom>
            <a:avLst/>
            <a:gdLst/>
            <a:ahLst/>
            <a:cxnLst/>
            <a:rect l="l" t="t" r="r" b="b"/>
            <a:pathLst>
              <a:path h="6332220">
                <a:moveTo>
                  <a:pt x="0" y="6332006"/>
                </a:moveTo>
                <a:lnTo>
                  <a:pt x="0" y="3191535"/>
                </a:lnTo>
              </a:path>
              <a:path h="6332220">
                <a:moveTo>
                  <a:pt x="0" y="3166003"/>
                </a:moveTo>
                <a:lnTo>
                  <a:pt x="0" y="1787259"/>
                </a:lnTo>
              </a:path>
              <a:path h="6332220">
                <a:moveTo>
                  <a:pt x="0" y="1761727"/>
                </a:moveTo>
                <a:lnTo>
                  <a:pt x="0" y="0"/>
                </a:lnTo>
              </a:path>
            </a:pathLst>
          </a:custGeom>
          <a:ln w="1275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8743894" y="0"/>
            <a:ext cx="13335" cy="3141345"/>
            <a:chOff x="8743894" y="0"/>
            <a:chExt cx="13335" cy="3141345"/>
          </a:xfrm>
        </p:grpSpPr>
        <p:sp>
          <p:nvSpPr>
            <p:cNvPr id="5" name="object 5"/>
            <p:cNvSpPr/>
            <p:nvPr/>
          </p:nvSpPr>
          <p:spPr>
            <a:xfrm>
              <a:off x="8750263" y="1379008"/>
              <a:ext cx="0" cy="1762125"/>
            </a:xfrm>
            <a:custGeom>
              <a:avLst/>
              <a:gdLst/>
              <a:ahLst/>
              <a:cxnLst/>
              <a:rect l="l" t="t" r="r" b="b"/>
              <a:pathLst>
                <a:path h="1762125">
                  <a:moveTo>
                    <a:pt x="0" y="1761727"/>
                  </a:moveTo>
                  <a:lnTo>
                    <a:pt x="0" y="0"/>
                  </a:lnTo>
                </a:path>
              </a:pathLst>
            </a:custGeom>
            <a:ln w="1273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743894" y="0"/>
              <a:ext cx="13335" cy="1353820"/>
            </a:xfrm>
            <a:custGeom>
              <a:avLst/>
              <a:gdLst/>
              <a:ahLst/>
              <a:cxnLst/>
              <a:rect l="l" t="t" r="r" b="b"/>
              <a:pathLst>
                <a:path w="13334" h="1353820">
                  <a:moveTo>
                    <a:pt x="12736" y="1353475"/>
                  </a:moveTo>
                  <a:lnTo>
                    <a:pt x="0" y="1353475"/>
                  </a:lnTo>
                  <a:lnTo>
                    <a:pt x="0" y="0"/>
                  </a:lnTo>
                  <a:lnTo>
                    <a:pt x="12736" y="0"/>
                  </a:lnTo>
                  <a:lnTo>
                    <a:pt x="12736" y="13534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15137" y="1647163"/>
            <a:ext cx="2240280" cy="3778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300" spc="50" dirty="0">
                <a:solidFill>
                  <a:srgbClr val="4B4B4B"/>
                </a:solidFill>
                <a:latin typeface="Arial"/>
                <a:cs typeface="Arial"/>
              </a:rPr>
              <a:t>Market</a:t>
            </a:r>
            <a:r>
              <a:rPr sz="2300" spc="180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2300" spc="50" dirty="0">
                <a:solidFill>
                  <a:srgbClr val="4B4B4B"/>
                </a:solidFill>
                <a:latin typeface="Arial"/>
                <a:cs typeface="Arial"/>
              </a:rPr>
              <a:t>Vo</a:t>
            </a:r>
            <a:r>
              <a:rPr sz="2300" spc="50" dirty="0">
                <a:solidFill>
                  <a:srgbClr val="2B2F31"/>
                </a:solidFill>
                <a:latin typeface="Arial"/>
                <a:cs typeface="Arial"/>
              </a:rPr>
              <a:t>l</a:t>
            </a:r>
            <a:r>
              <a:rPr sz="2300" spc="50" dirty="0">
                <a:solidFill>
                  <a:srgbClr val="4B4B4B"/>
                </a:solidFill>
                <a:latin typeface="Arial"/>
                <a:cs typeface="Arial"/>
              </a:rPr>
              <a:t>atili</a:t>
            </a:r>
            <a:r>
              <a:rPr sz="2300" spc="50" dirty="0">
                <a:solidFill>
                  <a:srgbClr val="2B2F31"/>
                </a:solidFill>
                <a:latin typeface="Arial"/>
                <a:cs typeface="Arial"/>
              </a:rPr>
              <a:t>t</a:t>
            </a:r>
            <a:r>
              <a:rPr sz="2300" spc="50" dirty="0">
                <a:solidFill>
                  <a:srgbClr val="4B4B4B"/>
                </a:solidFill>
                <a:latin typeface="Arial"/>
                <a:cs typeface="Arial"/>
              </a:rPr>
              <a:t>y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2929" y="7704700"/>
            <a:ext cx="6600190" cy="3702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250" spc="-105" dirty="0">
                <a:solidFill>
                  <a:srgbClr val="2B2F31"/>
                </a:solidFill>
                <a:latin typeface="Times New Roman"/>
                <a:cs typeface="Times New Roman"/>
              </a:rPr>
              <a:t>NE</a:t>
            </a:r>
            <a:r>
              <a:rPr sz="2250" spc="-105" dirty="0">
                <a:solidFill>
                  <a:srgbClr val="161618"/>
                </a:solidFill>
                <a:latin typeface="Times New Roman"/>
                <a:cs typeface="Times New Roman"/>
              </a:rPr>
              <a:t>PS</a:t>
            </a:r>
            <a:r>
              <a:rPr sz="2250" spc="-105" dirty="0">
                <a:solidFill>
                  <a:srgbClr val="2B2F31"/>
                </a:solidFill>
                <a:latin typeface="Times New Roman"/>
                <a:cs typeface="Times New Roman"/>
              </a:rPr>
              <a:t>EMarket</a:t>
            </a:r>
            <a:r>
              <a:rPr sz="2250" spc="-145" dirty="0">
                <a:solidFill>
                  <a:srgbClr val="2B2F31"/>
                </a:solidFill>
                <a:latin typeface="Times New Roman"/>
                <a:cs typeface="Times New Roman"/>
              </a:rPr>
              <a:t> </a:t>
            </a:r>
            <a:r>
              <a:rPr sz="2250" spc="-20" dirty="0">
                <a:solidFill>
                  <a:srgbClr val="2B2F31"/>
                </a:solidFill>
                <a:latin typeface="Times New Roman"/>
                <a:cs typeface="Times New Roman"/>
              </a:rPr>
              <a:t>Characteristics:</a:t>
            </a:r>
            <a:r>
              <a:rPr sz="2250" spc="-225" dirty="0">
                <a:solidFill>
                  <a:srgbClr val="2B2F31"/>
                </a:solidFill>
                <a:latin typeface="Times New Roman"/>
                <a:cs typeface="Times New Roman"/>
              </a:rPr>
              <a:t> </a:t>
            </a:r>
            <a:r>
              <a:rPr sz="2250" spc="-25" dirty="0">
                <a:solidFill>
                  <a:srgbClr val="161618"/>
                </a:solidFill>
                <a:latin typeface="Times New Roman"/>
                <a:cs typeface="Times New Roman"/>
              </a:rPr>
              <a:t>N</a:t>
            </a:r>
            <a:r>
              <a:rPr sz="2250" spc="-25" dirty="0">
                <a:solidFill>
                  <a:srgbClr val="2B2F31"/>
                </a:solidFill>
                <a:latin typeface="Times New Roman"/>
                <a:cs typeface="Times New Roman"/>
              </a:rPr>
              <a:t>on</a:t>
            </a:r>
            <a:r>
              <a:rPr sz="2250" spc="-25" dirty="0">
                <a:solidFill>
                  <a:srgbClr val="4B4B4B"/>
                </a:solidFill>
                <a:latin typeface="Times New Roman"/>
                <a:cs typeface="Times New Roman"/>
              </a:rPr>
              <a:t>-</a:t>
            </a:r>
            <a:r>
              <a:rPr sz="2250" spc="-25" dirty="0">
                <a:solidFill>
                  <a:srgbClr val="2B2F31"/>
                </a:solidFill>
                <a:latin typeface="Times New Roman"/>
                <a:cs typeface="Times New Roman"/>
              </a:rPr>
              <a:t>linear</a:t>
            </a:r>
            <a:r>
              <a:rPr sz="2250" spc="-100" dirty="0">
                <a:solidFill>
                  <a:srgbClr val="2B2F31"/>
                </a:solidFill>
                <a:latin typeface="Times New Roman"/>
                <a:cs typeface="Times New Roman"/>
              </a:rPr>
              <a:t> </a:t>
            </a:r>
            <a:r>
              <a:rPr sz="2100" spc="-254" dirty="0">
                <a:solidFill>
                  <a:srgbClr val="2B2F31"/>
                </a:solidFill>
                <a:latin typeface="Times New Roman"/>
                <a:cs typeface="Times New Roman"/>
              </a:rPr>
              <a:t>&amp;</a:t>
            </a:r>
            <a:r>
              <a:rPr sz="2100" spc="-114" dirty="0">
                <a:solidFill>
                  <a:srgbClr val="2B2F31"/>
                </a:solidFill>
                <a:latin typeface="Times New Roman"/>
                <a:cs typeface="Times New Roman"/>
              </a:rPr>
              <a:t> </a:t>
            </a:r>
            <a:r>
              <a:rPr sz="2250" spc="-100" dirty="0">
                <a:solidFill>
                  <a:srgbClr val="2B2F31"/>
                </a:solidFill>
                <a:latin typeface="Times New Roman"/>
                <a:cs typeface="Times New Roman"/>
              </a:rPr>
              <a:t>H</a:t>
            </a:r>
            <a:r>
              <a:rPr sz="2250" spc="-100" dirty="0">
                <a:solidFill>
                  <a:srgbClr val="161618"/>
                </a:solidFill>
                <a:latin typeface="Times New Roman"/>
                <a:cs typeface="Times New Roman"/>
              </a:rPr>
              <a:t>i</a:t>
            </a:r>
            <a:r>
              <a:rPr sz="2250" spc="-100" dirty="0">
                <a:solidFill>
                  <a:srgbClr val="2B2F31"/>
                </a:solidFill>
                <a:latin typeface="Times New Roman"/>
                <a:cs typeface="Times New Roman"/>
              </a:rPr>
              <a:t>gh</a:t>
            </a:r>
            <a:r>
              <a:rPr sz="2250" spc="-114" dirty="0">
                <a:solidFill>
                  <a:srgbClr val="2B2F31"/>
                </a:solidFill>
                <a:latin typeface="Times New Roman"/>
                <a:cs typeface="Times New Roman"/>
              </a:rPr>
              <a:t> </a:t>
            </a:r>
            <a:r>
              <a:rPr sz="2250" spc="-35" dirty="0">
                <a:solidFill>
                  <a:srgbClr val="161618"/>
                </a:solidFill>
                <a:latin typeface="Times New Roman"/>
                <a:cs typeface="Times New Roman"/>
              </a:rPr>
              <a:t>V</a:t>
            </a:r>
            <a:r>
              <a:rPr sz="2250" spc="-35" dirty="0">
                <a:solidFill>
                  <a:srgbClr val="2B2F31"/>
                </a:solidFill>
                <a:latin typeface="Times New Roman"/>
                <a:cs typeface="Times New Roman"/>
              </a:rPr>
              <a:t>olati</a:t>
            </a:r>
            <a:r>
              <a:rPr sz="2250" spc="-35" dirty="0">
                <a:solidFill>
                  <a:srgbClr val="161618"/>
                </a:solidFill>
                <a:latin typeface="Times New Roman"/>
                <a:cs typeface="Times New Roman"/>
              </a:rPr>
              <a:t>li</a:t>
            </a:r>
            <a:r>
              <a:rPr sz="2250" spc="-35" dirty="0">
                <a:solidFill>
                  <a:srgbClr val="2B2F31"/>
                </a:solidFill>
                <a:latin typeface="Times New Roman"/>
                <a:cs typeface="Times New Roman"/>
              </a:rPr>
              <a:t>ty.</a:t>
            </a:r>
            <a:endParaRPr sz="2250" dirty="0">
              <a:latin typeface="Times New Roman"/>
              <a:cs typeface="Times New Roman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9630815" y="791831"/>
            <a:ext cx="7234567" cy="2369820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12700" marR="5080" indent="8890">
              <a:lnSpc>
                <a:spcPts val="6030"/>
              </a:lnSpc>
              <a:spcBef>
                <a:spcPts val="565"/>
              </a:spcBef>
            </a:pPr>
            <a:r>
              <a:rPr sz="5300" spc="245" dirty="0">
                <a:solidFill>
                  <a:srgbClr val="2B2F31"/>
                </a:solidFill>
              </a:rPr>
              <a:t>The</a:t>
            </a:r>
            <a:r>
              <a:rPr sz="5300" spc="-280" dirty="0">
                <a:solidFill>
                  <a:srgbClr val="2B2F31"/>
                </a:solidFill>
              </a:rPr>
              <a:t> </a:t>
            </a:r>
            <a:r>
              <a:rPr sz="5300" spc="80" dirty="0">
                <a:solidFill>
                  <a:srgbClr val="2B2F31"/>
                </a:solidFill>
              </a:rPr>
              <a:t>Challenge</a:t>
            </a:r>
            <a:r>
              <a:rPr sz="5300" spc="190" dirty="0">
                <a:solidFill>
                  <a:srgbClr val="2B2F31"/>
                </a:solidFill>
              </a:rPr>
              <a:t> </a:t>
            </a:r>
            <a:r>
              <a:rPr sz="5300" spc="100" dirty="0">
                <a:solidFill>
                  <a:srgbClr val="2B2F31"/>
                </a:solidFill>
              </a:rPr>
              <a:t>of </a:t>
            </a:r>
            <a:r>
              <a:rPr sz="5300" spc="55" dirty="0">
                <a:solidFill>
                  <a:srgbClr val="2B2F31"/>
                </a:solidFill>
              </a:rPr>
              <a:t>Emerging</a:t>
            </a:r>
            <a:r>
              <a:rPr sz="5300" spc="-50" dirty="0">
                <a:solidFill>
                  <a:srgbClr val="2B2F31"/>
                </a:solidFill>
              </a:rPr>
              <a:t> </a:t>
            </a:r>
            <a:r>
              <a:rPr sz="5300" spc="150" dirty="0">
                <a:solidFill>
                  <a:srgbClr val="2B2F31"/>
                </a:solidFill>
              </a:rPr>
              <a:t>Markets: </a:t>
            </a:r>
            <a:r>
              <a:rPr sz="5300" spc="90" dirty="0">
                <a:solidFill>
                  <a:srgbClr val="2B2F31"/>
                </a:solidFill>
              </a:rPr>
              <a:t>Why</a:t>
            </a:r>
            <a:r>
              <a:rPr lang="en-US" sz="5300" spc="90" dirty="0">
                <a:solidFill>
                  <a:srgbClr val="2B2F31"/>
                </a:solidFill>
              </a:rPr>
              <a:t> </a:t>
            </a:r>
            <a:r>
              <a:rPr sz="5300" spc="90" dirty="0">
                <a:solidFill>
                  <a:srgbClr val="2B2F31"/>
                </a:solidFill>
              </a:rPr>
              <a:t>NEPSE?</a:t>
            </a:r>
            <a:endParaRPr sz="5300" dirty="0"/>
          </a:p>
        </p:txBody>
      </p:sp>
      <p:sp>
        <p:nvSpPr>
          <p:cNvPr id="10" name="object 10"/>
          <p:cNvSpPr txBox="1"/>
          <p:nvPr/>
        </p:nvSpPr>
        <p:spPr>
          <a:xfrm>
            <a:off x="9734862" y="3434424"/>
            <a:ext cx="7460931" cy="504888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87655" marR="527050" indent="-234315">
              <a:lnSpc>
                <a:spcPct val="100000"/>
              </a:lnSpc>
              <a:spcBef>
                <a:spcPts val="115"/>
              </a:spcBef>
              <a:buSzPct val="80357"/>
              <a:buAutoNum type="arabicPeriod"/>
              <a:tabLst>
                <a:tab pos="302895" algn="l"/>
              </a:tabLst>
            </a:pPr>
            <a:r>
              <a:rPr sz="2800" b="1" spc="-150" dirty="0">
                <a:solidFill>
                  <a:srgbClr val="161618"/>
                </a:solidFill>
                <a:latin typeface="Times New Roman"/>
                <a:cs typeface="Times New Roman"/>
              </a:rPr>
              <a:t>The</a:t>
            </a:r>
            <a:r>
              <a:rPr sz="2800" b="1" spc="-140" dirty="0">
                <a:solidFill>
                  <a:srgbClr val="161618"/>
                </a:solidFill>
                <a:latin typeface="Times New Roman"/>
                <a:cs typeface="Times New Roman"/>
              </a:rPr>
              <a:t> Domain</a:t>
            </a:r>
            <a:r>
              <a:rPr sz="2800" b="1" spc="-140" dirty="0">
                <a:solidFill>
                  <a:srgbClr val="2B2F31"/>
                </a:solidFill>
                <a:latin typeface="Times New Roman"/>
                <a:cs typeface="Times New Roman"/>
              </a:rPr>
              <a:t>:</a:t>
            </a:r>
            <a:r>
              <a:rPr sz="2800" b="1" spc="-335" dirty="0">
                <a:solidFill>
                  <a:srgbClr val="2B2F31"/>
                </a:solidFill>
                <a:latin typeface="Times New Roman"/>
                <a:cs typeface="Times New Roman"/>
              </a:rPr>
              <a:t> </a:t>
            </a:r>
            <a:r>
              <a:rPr sz="2750" spc="-140" dirty="0">
                <a:solidFill>
                  <a:srgbClr val="161618"/>
                </a:solidFill>
                <a:latin typeface="Times New Roman"/>
                <a:cs typeface="Times New Roman"/>
              </a:rPr>
              <a:t>N</a:t>
            </a:r>
            <a:r>
              <a:rPr sz="2750" spc="-140" dirty="0">
                <a:solidFill>
                  <a:srgbClr val="2B2F31"/>
                </a:solidFill>
                <a:latin typeface="Times New Roman"/>
                <a:cs typeface="Times New Roman"/>
              </a:rPr>
              <a:t>E</a:t>
            </a:r>
            <a:r>
              <a:rPr sz="2750" spc="-140" dirty="0">
                <a:solidFill>
                  <a:srgbClr val="161618"/>
                </a:solidFill>
                <a:latin typeface="Times New Roman"/>
                <a:cs typeface="Times New Roman"/>
              </a:rPr>
              <a:t>PSE(Nepal</a:t>
            </a:r>
            <a:r>
              <a:rPr sz="2750" spc="-225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70" dirty="0">
                <a:solidFill>
                  <a:srgbClr val="161618"/>
                </a:solidFill>
                <a:latin typeface="Times New Roman"/>
                <a:cs typeface="Times New Roman"/>
              </a:rPr>
              <a:t>Stock</a:t>
            </a:r>
            <a:r>
              <a:rPr sz="2750" spc="-65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100" dirty="0">
                <a:solidFill>
                  <a:srgbClr val="161618"/>
                </a:solidFill>
                <a:latin typeface="Times New Roman"/>
                <a:cs typeface="Times New Roman"/>
              </a:rPr>
              <a:t>Exchange)</a:t>
            </a:r>
            <a:r>
              <a:rPr sz="2750" spc="3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25" dirty="0">
                <a:solidFill>
                  <a:srgbClr val="161618"/>
                </a:solidFill>
                <a:latin typeface="Times New Roman"/>
                <a:cs typeface="Times New Roman"/>
              </a:rPr>
              <a:t>is 	</a:t>
            </a:r>
            <a:r>
              <a:rPr sz="2750" spc="-30" dirty="0">
                <a:solidFill>
                  <a:srgbClr val="161618"/>
                </a:solidFill>
                <a:latin typeface="Times New Roman"/>
                <a:cs typeface="Times New Roman"/>
              </a:rPr>
              <a:t>driven</a:t>
            </a:r>
            <a:r>
              <a:rPr sz="2750" spc="-2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105" dirty="0">
                <a:solidFill>
                  <a:srgbClr val="161618"/>
                </a:solidFill>
                <a:latin typeface="Times New Roman"/>
                <a:cs typeface="Times New Roman"/>
              </a:rPr>
              <a:t>by</a:t>
            </a:r>
            <a:r>
              <a:rPr sz="2750" spc="-235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60" dirty="0">
                <a:solidFill>
                  <a:srgbClr val="161618"/>
                </a:solidFill>
                <a:latin typeface="Times New Roman"/>
                <a:cs typeface="Times New Roman"/>
              </a:rPr>
              <a:t>political</a:t>
            </a:r>
            <a:r>
              <a:rPr sz="2750" spc="-135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25" dirty="0">
                <a:solidFill>
                  <a:srgbClr val="161618"/>
                </a:solidFill>
                <a:latin typeface="Times New Roman"/>
                <a:cs typeface="Times New Roman"/>
              </a:rPr>
              <a:t>events</a:t>
            </a:r>
            <a:r>
              <a:rPr sz="2750" spc="-225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161618"/>
                </a:solidFill>
                <a:latin typeface="Times New Roman"/>
                <a:cs typeface="Times New Roman"/>
              </a:rPr>
              <a:t>and</a:t>
            </a:r>
            <a:r>
              <a:rPr sz="2750" spc="-17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investor</a:t>
            </a:r>
            <a:endParaRPr sz="2750" dirty="0">
              <a:latin typeface="Times New Roman"/>
              <a:cs typeface="Times New Roman"/>
            </a:endParaRPr>
          </a:p>
          <a:p>
            <a:pPr marL="315595">
              <a:lnSpc>
                <a:spcPts val="3285"/>
              </a:lnSpc>
              <a:spcBef>
                <a:spcPts val="20"/>
              </a:spcBef>
            </a:pPr>
            <a:r>
              <a:rPr sz="2750" spc="-90" dirty="0">
                <a:solidFill>
                  <a:srgbClr val="161618"/>
                </a:solidFill>
                <a:latin typeface="Times New Roman"/>
                <a:cs typeface="Times New Roman"/>
              </a:rPr>
              <a:t>psychology,</a:t>
            </a:r>
            <a:r>
              <a:rPr sz="2750" spc="-95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161618"/>
                </a:solidFill>
                <a:latin typeface="Times New Roman"/>
                <a:cs typeface="Times New Roman"/>
              </a:rPr>
              <a:t>creating</a:t>
            </a:r>
            <a:r>
              <a:rPr sz="2750" spc="-245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high</a:t>
            </a:r>
            <a:r>
              <a:rPr sz="2750" spc="-9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35" dirty="0">
                <a:solidFill>
                  <a:srgbClr val="161618"/>
                </a:solidFill>
                <a:latin typeface="Times New Roman"/>
                <a:cs typeface="Times New Roman"/>
              </a:rPr>
              <a:t>noise</a:t>
            </a:r>
            <a:r>
              <a:rPr sz="2750" spc="-229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and</a:t>
            </a:r>
            <a:r>
              <a:rPr sz="2750" spc="-11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161618"/>
                </a:solidFill>
                <a:latin typeface="Times New Roman"/>
                <a:cs typeface="Times New Roman"/>
              </a:rPr>
              <a:t>non</a:t>
            </a:r>
            <a:r>
              <a:rPr sz="2750" dirty="0">
                <a:solidFill>
                  <a:srgbClr val="2B2F31"/>
                </a:solidFill>
                <a:latin typeface="Times New Roman"/>
                <a:cs typeface="Times New Roman"/>
              </a:rPr>
              <a:t>-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linearity</a:t>
            </a:r>
            <a:r>
              <a:rPr sz="2750" spc="-10" dirty="0">
                <a:solidFill>
                  <a:srgbClr val="2B2F31"/>
                </a:solidFill>
                <a:latin typeface="Times New Roman"/>
                <a:cs typeface="Times New Roman"/>
              </a:rPr>
              <a:t>.</a:t>
            </a:r>
            <a:endParaRPr sz="2750" dirty="0">
              <a:latin typeface="Times New Roman"/>
              <a:cs typeface="Times New Roman"/>
            </a:endParaRPr>
          </a:p>
          <a:p>
            <a:pPr marL="287655" marR="747395" indent="-260350">
              <a:lnSpc>
                <a:spcPct val="98800"/>
              </a:lnSpc>
              <a:spcBef>
                <a:spcPts val="25"/>
              </a:spcBef>
              <a:buSzPct val="80357"/>
              <a:buFont typeface="Times New Roman"/>
              <a:buAutoNum type="arabicPeriod" startAt="2"/>
              <a:tabLst>
                <a:tab pos="299720" algn="l"/>
              </a:tabLst>
            </a:pPr>
            <a:r>
              <a:rPr sz="2800" b="1" spc="-150" dirty="0">
                <a:solidFill>
                  <a:srgbClr val="161618"/>
                </a:solidFill>
                <a:latin typeface="Times New Roman"/>
                <a:cs typeface="Times New Roman"/>
              </a:rPr>
              <a:t>The</a:t>
            </a:r>
            <a:r>
              <a:rPr sz="2800" b="1" spc="-21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800" b="1" spc="-75" dirty="0">
                <a:solidFill>
                  <a:srgbClr val="161618"/>
                </a:solidFill>
                <a:latin typeface="Times New Roman"/>
                <a:cs typeface="Times New Roman"/>
              </a:rPr>
              <a:t>Problem</a:t>
            </a:r>
            <a:r>
              <a:rPr sz="2800" b="1" spc="-75" dirty="0">
                <a:solidFill>
                  <a:srgbClr val="2B2F31"/>
                </a:solidFill>
                <a:latin typeface="Times New Roman"/>
                <a:cs typeface="Times New Roman"/>
              </a:rPr>
              <a:t>:</a:t>
            </a:r>
            <a:r>
              <a:rPr sz="2750" spc="-75" dirty="0">
                <a:solidFill>
                  <a:srgbClr val="161618"/>
                </a:solidFill>
                <a:latin typeface="Times New Roman"/>
                <a:cs typeface="Times New Roman"/>
              </a:rPr>
              <a:t>Traditional</a:t>
            </a:r>
            <a:r>
              <a:rPr sz="2750" spc="-6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statistical</a:t>
            </a:r>
            <a:r>
              <a:rPr sz="2750" spc="-3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models 	</a:t>
            </a:r>
            <a:r>
              <a:rPr sz="2750" spc="-165" dirty="0">
                <a:solidFill>
                  <a:srgbClr val="161618"/>
                </a:solidFill>
                <a:latin typeface="Times New Roman"/>
                <a:cs typeface="Times New Roman"/>
              </a:rPr>
              <a:t>(ARIMA/Linear</a:t>
            </a:r>
            <a:r>
              <a:rPr sz="2750" spc="-165" dirty="0">
                <a:solidFill>
                  <a:srgbClr val="2B2F31"/>
                </a:solidFill>
                <a:latin typeface="Times New Roman"/>
                <a:cs typeface="Times New Roman"/>
              </a:rPr>
              <a:t>)</a:t>
            </a:r>
            <a:r>
              <a:rPr sz="2750" spc="-375" dirty="0">
                <a:solidFill>
                  <a:srgbClr val="2B2F31"/>
                </a:solidFill>
                <a:latin typeface="Times New Roman"/>
                <a:cs typeface="Times New Roman"/>
              </a:rPr>
              <a:t> </a:t>
            </a:r>
            <a:r>
              <a:rPr sz="2750" spc="-30" dirty="0">
                <a:solidFill>
                  <a:srgbClr val="161618"/>
                </a:solidFill>
                <a:latin typeface="Times New Roman"/>
                <a:cs typeface="Times New Roman"/>
              </a:rPr>
              <a:t>fail</a:t>
            </a:r>
            <a:r>
              <a:rPr sz="2750" spc="-16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70" dirty="0">
                <a:solidFill>
                  <a:srgbClr val="161618"/>
                </a:solidFill>
                <a:latin typeface="Times New Roman"/>
                <a:cs typeface="Times New Roman"/>
              </a:rPr>
              <a:t>to</a:t>
            </a:r>
            <a:r>
              <a:rPr sz="2750" spc="-325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capture</a:t>
            </a:r>
            <a:r>
              <a:rPr sz="2750" spc="-75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dirty="0">
                <a:solidFill>
                  <a:srgbClr val="161618"/>
                </a:solidFill>
                <a:latin typeface="Times New Roman"/>
                <a:cs typeface="Times New Roman"/>
              </a:rPr>
              <a:t>these</a:t>
            </a:r>
            <a:r>
              <a:rPr sz="2750" spc="-22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30" dirty="0">
                <a:solidFill>
                  <a:srgbClr val="2B2F31"/>
                </a:solidFill>
                <a:latin typeface="Times New Roman"/>
                <a:cs typeface="Times New Roman"/>
              </a:rPr>
              <a:t>c</a:t>
            </a:r>
            <a:r>
              <a:rPr sz="2750" spc="-30" dirty="0">
                <a:solidFill>
                  <a:srgbClr val="161618"/>
                </a:solidFill>
                <a:latin typeface="Times New Roman"/>
                <a:cs typeface="Times New Roman"/>
              </a:rPr>
              <a:t>omplex 	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d</a:t>
            </a:r>
            <a:r>
              <a:rPr sz="2750" spc="-10" dirty="0">
                <a:solidFill>
                  <a:srgbClr val="2B2F31"/>
                </a:solidFill>
                <a:latin typeface="Times New Roman"/>
                <a:cs typeface="Times New Roman"/>
              </a:rPr>
              <a:t>e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pend</a:t>
            </a:r>
            <a:r>
              <a:rPr sz="2750" spc="-10" dirty="0">
                <a:solidFill>
                  <a:srgbClr val="2B2F31"/>
                </a:solidFill>
                <a:latin typeface="Times New Roman"/>
                <a:cs typeface="Times New Roman"/>
              </a:rPr>
              <a:t>e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ncies</a:t>
            </a:r>
            <a:r>
              <a:rPr sz="2750" spc="-10" dirty="0">
                <a:solidFill>
                  <a:srgbClr val="2B2F31"/>
                </a:solidFill>
                <a:latin typeface="Times New Roman"/>
                <a:cs typeface="Times New Roman"/>
              </a:rPr>
              <a:t>.</a:t>
            </a:r>
            <a:endParaRPr sz="2750" dirty="0">
              <a:latin typeface="Times New Roman"/>
              <a:cs typeface="Times New Roman"/>
            </a:endParaRPr>
          </a:p>
          <a:p>
            <a:pPr marL="288925" marR="577215" indent="-274955">
              <a:lnSpc>
                <a:spcPct val="98800"/>
              </a:lnSpc>
              <a:spcBef>
                <a:spcPts val="10"/>
              </a:spcBef>
              <a:buSzPct val="94642"/>
              <a:buFont typeface="Times New Roman"/>
              <a:buAutoNum type="arabicPeriod" startAt="2"/>
              <a:tabLst>
                <a:tab pos="302260" algn="l"/>
              </a:tabLst>
            </a:pPr>
            <a:r>
              <a:rPr sz="2800" b="1" spc="-150" dirty="0">
                <a:solidFill>
                  <a:srgbClr val="161618"/>
                </a:solidFill>
                <a:latin typeface="Times New Roman"/>
                <a:cs typeface="Times New Roman"/>
              </a:rPr>
              <a:t>The</a:t>
            </a:r>
            <a:r>
              <a:rPr sz="2800" b="1" spc="-20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800" b="1" spc="-170" dirty="0">
                <a:solidFill>
                  <a:srgbClr val="161618"/>
                </a:solidFill>
                <a:latin typeface="Times New Roman"/>
                <a:cs typeface="Times New Roman"/>
              </a:rPr>
              <a:t>Knowledge</a:t>
            </a:r>
            <a:r>
              <a:rPr sz="2800" b="1" spc="-13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800" b="1" spc="-275" dirty="0">
                <a:solidFill>
                  <a:srgbClr val="161618"/>
                </a:solidFill>
                <a:latin typeface="Times New Roman"/>
                <a:cs typeface="Times New Roman"/>
              </a:rPr>
              <a:t>Gap:</a:t>
            </a:r>
            <a:r>
              <a:rPr sz="2800" b="1" spc="-204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85" dirty="0">
                <a:solidFill>
                  <a:srgbClr val="161618"/>
                </a:solidFill>
                <a:latin typeface="Times New Roman"/>
                <a:cs typeface="Times New Roman"/>
              </a:rPr>
              <a:t>Limited</a:t>
            </a:r>
            <a:r>
              <a:rPr sz="2750" spc="-4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25" dirty="0">
                <a:solidFill>
                  <a:srgbClr val="161618"/>
                </a:solidFill>
                <a:latin typeface="Times New Roman"/>
                <a:cs typeface="Times New Roman"/>
              </a:rPr>
              <a:t>research</a:t>
            </a:r>
            <a:r>
              <a:rPr sz="2750" spc="-135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exists 	</a:t>
            </a:r>
            <a:r>
              <a:rPr sz="2750" spc="-55" dirty="0">
                <a:solidFill>
                  <a:srgbClr val="161618"/>
                </a:solidFill>
                <a:latin typeface="Times New Roman"/>
                <a:cs typeface="Times New Roman"/>
              </a:rPr>
              <a:t>applying</a:t>
            </a:r>
            <a:r>
              <a:rPr sz="2750" spc="-14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110" dirty="0">
                <a:solidFill>
                  <a:srgbClr val="161618"/>
                </a:solidFill>
                <a:latin typeface="Times New Roman"/>
                <a:cs typeface="Times New Roman"/>
              </a:rPr>
              <a:t>Deep</a:t>
            </a:r>
            <a:r>
              <a:rPr sz="2750" spc="-26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45" dirty="0">
                <a:solidFill>
                  <a:srgbClr val="161618"/>
                </a:solidFill>
                <a:latin typeface="Times New Roman"/>
                <a:cs typeface="Times New Roman"/>
              </a:rPr>
              <a:t>Learning</a:t>
            </a:r>
            <a:r>
              <a:rPr sz="2750" spc="-145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70" dirty="0">
                <a:solidFill>
                  <a:srgbClr val="161618"/>
                </a:solidFill>
                <a:latin typeface="Times New Roman"/>
                <a:cs typeface="Times New Roman"/>
              </a:rPr>
              <a:t>to</a:t>
            </a:r>
            <a:r>
              <a:rPr sz="2750" spc="-175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60" dirty="0">
                <a:solidFill>
                  <a:srgbClr val="2B2F31"/>
                </a:solidFill>
                <a:latin typeface="Times New Roman"/>
                <a:cs typeface="Times New Roman"/>
              </a:rPr>
              <a:t>N</a:t>
            </a:r>
            <a:r>
              <a:rPr sz="2750" spc="-60" dirty="0">
                <a:solidFill>
                  <a:srgbClr val="161618"/>
                </a:solidFill>
                <a:latin typeface="Times New Roman"/>
                <a:cs typeface="Times New Roman"/>
              </a:rPr>
              <a:t>epal's</a:t>
            </a:r>
            <a:r>
              <a:rPr sz="2750" spc="-235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specific 	</a:t>
            </a:r>
            <a:r>
              <a:rPr sz="2750" spc="-30" dirty="0">
                <a:solidFill>
                  <a:srgbClr val="161618"/>
                </a:solidFill>
                <a:latin typeface="Times New Roman"/>
                <a:cs typeface="Times New Roman"/>
              </a:rPr>
              <a:t>market</a:t>
            </a:r>
            <a:r>
              <a:rPr sz="2750" spc="-11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50" dirty="0">
                <a:solidFill>
                  <a:srgbClr val="161618"/>
                </a:solidFill>
                <a:latin typeface="Times New Roman"/>
                <a:cs typeface="Times New Roman"/>
              </a:rPr>
              <a:t>dynamics</a:t>
            </a:r>
            <a:r>
              <a:rPr sz="2750" spc="-195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30" dirty="0">
                <a:solidFill>
                  <a:srgbClr val="161618"/>
                </a:solidFill>
                <a:latin typeface="Times New Roman"/>
                <a:cs typeface="Times New Roman"/>
              </a:rPr>
              <a:t>compared</a:t>
            </a:r>
            <a:r>
              <a:rPr sz="2750" spc="-13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70" dirty="0">
                <a:solidFill>
                  <a:srgbClr val="161618"/>
                </a:solidFill>
                <a:latin typeface="Times New Roman"/>
                <a:cs typeface="Times New Roman"/>
              </a:rPr>
              <a:t>to</a:t>
            </a:r>
            <a:r>
              <a:rPr sz="2750" spc="-32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50" dirty="0">
                <a:solidFill>
                  <a:srgbClr val="161618"/>
                </a:solidFill>
                <a:latin typeface="Times New Roman"/>
                <a:cs typeface="Times New Roman"/>
              </a:rPr>
              <a:t>global</a:t>
            </a:r>
            <a:r>
              <a:rPr sz="2750" spc="-204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markets.</a:t>
            </a:r>
            <a:endParaRPr sz="2750" dirty="0">
              <a:latin typeface="Times New Roman"/>
              <a:cs typeface="Times New Roman"/>
            </a:endParaRPr>
          </a:p>
          <a:p>
            <a:pPr marL="298450" marR="628650" indent="-286385">
              <a:lnSpc>
                <a:spcPct val="98800"/>
              </a:lnSpc>
              <a:spcBef>
                <a:spcPts val="5"/>
              </a:spcBef>
              <a:buAutoNum type="arabicPeriod" startAt="2"/>
              <a:tabLst>
                <a:tab pos="298450" algn="l"/>
                <a:tab pos="306705" algn="l"/>
              </a:tabLst>
            </a:pPr>
            <a:r>
              <a:rPr sz="2800" b="1" dirty="0">
                <a:solidFill>
                  <a:srgbClr val="161618"/>
                </a:solidFill>
                <a:latin typeface="Times New Roman"/>
                <a:cs typeface="Times New Roman"/>
              </a:rPr>
              <a:t>	</a:t>
            </a:r>
            <a:r>
              <a:rPr sz="2800" b="1" spc="-165" dirty="0">
                <a:solidFill>
                  <a:srgbClr val="161618"/>
                </a:solidFill>
                <a:latin typeface="Times New Roman"/>
                <a:cs typeface="Times New Roman"/>
              </a:rPr>
              <a:t>Research</a:t>
            </a:r>
            <a:r>
              <a:rPr sz="2800" b="1" spc="-25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800" b="1" spc="-210" dirty="0">
                <a:solidFill>
                  <a:srgbClr val="161618"/>
                </a:solidFill>
                <a:latin typeface="Times New Roman"/>
                <a:cs typeface="Times New Roman"/>
              </a:rPr>
              <a:t>Goal:</a:t>
            </a:r>
            <a:r>
              <a:rPr sz="2800" b="1" spc="-254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280" dirty="0">
                <a:solidFill>
                  <a:srgbClr val="161618"/>
                </a:solidFill>
                <a:latin typeface="Times New Roman"/>
                <a:cs typeface="Times New Roman"/>
              </a:rPr>
              <a:t>A</a:t>
            </a:r>
            <a:r>
              <a:rPr sz="2750" spc="-26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35" dirty="0">
                <a:solidFill>
                  <a:srgbClr val="161618"/>
                </a:solidFill>
                <a:latin typeface="Times New Roman"/>
                <a:cs typeface="Times New Roman"/>
              </a:rPr>
              <a:t>ri</a:t>
            </a:r>
            <a:r>
              <a:rPr sz="2750" spc="-35" dirty="0">
                <a:solidFill>
                  <a:srgbClr val="2B2F31"/>
                </a:solidFill>
                <a:latin typeface="Times New Roman"/>
                <a:cs typeface="Times New Roman"/>
              </a:rPr>
              <a:t>g</a:t>
            </a:r>
            <a:r>
              <a:rPr sz="2750" spc="-35" dirty="0">
                <a:solidFill>
                  <a:srgbClr val="161618"/>
                </a:solidFill>
                <a:latin typeface="Times New Roman"/>
                <a:cs typeface="Times New Roman"/>
              </a:rPr>
              <a:t>orous</a:t>
            </a:r>
            <a:r>
              <a:rPr sz="2750" spc="-18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40" dirty="0">
                <a:solidFill>
                  <a:srgbClr val="161618"/>
                </a:solidFill>
                <a:latin typeface="Times New Roman"/>
                <a:cs typeface="Times New Roman"/>
              </a:rPr>
              <a:t>compari</a:t>
            </a:r>
            <a:r>
              <a:rPr sz="2750" spc="-40" dirty="0">
                <a:solidFill>
                  <a:srgbClr val="2B2F31"/>
                </a:solidFill>
                <a:latin typeface="Times New Roman"/>
                <a:cs typeface="Times New Roman"/>
              </a:rPr>
              <a:t>s</a:t>
            </a:r>
            <a:r>
              <a:rPr sz="2750" spc="-40" dirty="0">
                <a:solidFill>
                  <a:srgbClr val="161618"/>
                </a:solidFill>
                <a:latin typeface="Times New Roman"/>
                <a:cs typeface="Times New Roman"/>
              </a:rPr>
              <a:t>on</a:t>
            </a:r>
            <a:r>
              <a:rPr sz="2750" spc="-7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25" dirty="0">
                <a:solidFill>
                  <a:srgbClr val="161618"/>
                </a:solidFill>
                <a:latin typeface="Times New Roman"/>
                <a:cs typeface="Times New Roman"/>
              </a:rPr>
              <a:t>of </a:t>
            </a:r>
            <a:r>
              <a:rPr sz="2750" spc="-45" dirty="0">
                <a:solidFill>
                  <a:srgbClr val="161618"/>
                </a:solidFill>
                <a:latin typeface="Times New Roman"/>
                <a:cs typeface="Times New Roman"/>
              </a:rPr>
              <a:t>Recurrent</a:t>
            </a:r>
            <a:r>
              <a:rPr sz="2750" spc="-105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190" dirty="0">
                <a:solidFill>
                  <a:srgbClr val="161618"/>
                </a:solidFill>
                <a:latin typeface="Times New Roman"/>
                <a:cs typeface="Times New Roman"/>
              </a:rPr>
              <a:t>(LSTM),</a:t>
            </a:r>
            <a:r>
              <a:rPr sz="2750" spc="-15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70" dirty="0">
                <a:solidFill>
                  <a:srgbClr val="161618"/>
                </a:solidFill>
                <a:latin typeface="Times New Roman"/>
                <a:cs typeface="Times New Roman"/>
              </a:rPr>
              <a:t>Convolutional</a:t>
            </a:r>
            <a:r>
              <a:rPr sz="2750" spc="1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204" dirty="0">
                <a:solidFill>
                  <a:srgbClr val="161618"/>
                </a:solidFill>
                <a:latin typeface="Times New Roman"/>
                <a:cs typeface="Times New Roman"/>
              </a:rPr>
              <a:t>(CNN),</a:t>
            </a:r>
            <a:r>
              <a:rPr sz="2750" spc="-13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25" dirty="0">
                <a:solidFill>
                  <a:srgbClr val="161618"/>
                </a:solidFill>
                <a:latin typeface="Times New Roman"/>
                <a:cs typeface="Times New Roman"/>
              </a:rPr>
              <a:t>and 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Att</a:t>
            </a:r>
            <a:r>
              <a:rPr sz="2750" spc="-10" dirty="0">
                <a:solidFill>
                  <a:srgbClr val="2B2F31"/>
                </a:solidFill>
                <a:latin typeface="Times New Roman"/>
                <a:cs typeface="Times New Roman"/>
              </a:rPr>
              <a:t>e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ntion-ba</a:t>
            </a:r>
            <a:r>
              <a:rPr sz="2750" spc="-10" dirty="0">
                <a:solidFill>
                  <a:srgbClr val="2B2F31"/>
                </a:solidFill>
                <a:latin typeface="Times New Roman"/>
                <a:cs typeface="Times New Roman"/>
              </a:rPr>
              <a:t>s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ed</a:t>
            </a:r>
            <a:r>
              <a:rPr sz="2750" spc="-245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30" dirty="0">
                <a:solidFill>
                  <a:srgbClr val="161618"/>
                </a:solidFill>
                <a:latin typeface="Times New Roman"/>
                <a:cs typeface="Times New Roman"/>
              </a:rPr>
              <a:t>(Transformer)</a:t>
            </a:r>
            <a:r>
              <a:rPr sz="2750" spc="10" dirty="0">
                <a:solidFill>
                  <a:srgbClr val="161618"/>
                </a:solidFill>
                <a:latin typeface="Times New Roman"/>
                <a:cs typeface="Times New Roman"/>
              </a:rPr>
              <a:t> 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ar</a:t>
            </a:r>
            <a:r>
              <a:rPr sz="2750" spc="-10" dirty="0">
                <a:solidFill>
                  <a:srgbClr val="2B2F31"/>
                </a:solidFill>
                <a:latin typeface="Times New Roman"/>
                <a:cs typeface="Times New Roman"/>
              </a:rPr>
              <a:t>c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hitecture</a:t>
            </a:r>
            <a:r>
              <a:rPr sz="2750" spc="-10" dirty="0">
                <a:solidFill>
                  <a:srgbClr val="2B2F31"/>
                </a:solidFill>
                <a:latin typeface="Times New Roman"/>
                <a:cs typeface="Times New Roman"/>
              </a:rPr>
              <a:t>s</a:t>
            </a:r>
            <a:r>
              <a:rPr sz="2750" spc="-10" dirty="0">
                <a:solidFill>
                  <a:srgbClr val="161618"/>
                </a:solidFill>
                <a:latin typeface="Times New Roman"/>
                <a:cs typeface="Times New Roman"/>
              </a:rPr>
              <a:t>.</a:t>
            </a:r>
            <a:endParaRPr sz="275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object 2">
            <a:extLst>
              <a:ext uri="{FF2B5EF4-FFF2-40B4-BE49-F238E27FC236}">
                <a16:creationId xmlns:a16="http://schemas.microsoft.com/office/drawing/2014/main" id="{A92BA962-35CA-FA6E-3F36-16138C762F4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11200" y="4216400"/>
            <a:ext cx="1612900" cy="1612900"/>
          </a:xfrm>
          <a:prstGeom prst="rect">
            <a:avLst/>
          </a:prstGeom>
        </p:spPr>
      </p:pic>
      <p:pic>
        <p:nvPicPr>
          <p:cNvPr id="56" name="object 3">
            <a:extLst>
              <a:ext uri="{FF2B5EF4-FFF2-40B4-BE49-F238E27FC236}">
                <a16:creationId xmlns:a16="http://schemas.microsoft.com/office/drawing/2014/main" id="{F8AAF1AF-8E24-951A-BE00-B036709B7F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50200" y="4241800"/>
            <a:ext cx="1574800" cy="1574800"/>
          </a:xfrm>
          <a:prstGeom prst="rect">
            <a:avLst/>
          </a:prstGeom>
        </p:spPr>
      </p:pic>
      <p:sp>
        <p:nvSpPr>
          <p:cNvPr id="57" name="object 4">
            <a:extLst>
              <a:ext uri="{FF2B5EF4-FFF2-40B4-BE49-F238E27FC236}">
                <a16:creationId xmlns:a16="http://schemas.microsoft.com/office/drawing/2014/main" id="{5B3952EF-E6CD-6667-72CB-E1F7BB5976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7359" y="642761"/>
            <a:ext cx="15800480" cy="898536"/>
          </a:xfrm>
          <a:prstGeom prst="rect">
            <a:avLst/>
          </a:prstGeom>
        </p:spPr>
        <p:txBody>
          <a:bodyPr vert="horz" wrap="square" lIns="0" tIns="74506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5350" b="1" dirty="0">
                <a:solidFill>
                  <a:srgbClr val="0F1F3F"/>
                </a:solidFill>
                <a:latin typeface="Arial MT"/>
                <a:cs typeface="Arial MT"/>
              </a:rPr>
              <a:t>The </a:t>
            </a:r>
            <a:r>
              <a:rPr sz="5350" b="1" dirty="0">
                <a:solidFill>
                  <a:srgbClr val="081838"/>
                </a:solidFill>
                <a:latin typeface="Arial MT"/>
                <a:cs typeface="Arial MT"/>
              </a:rPr>
              <a:t>Protagonists: </a:t>
            </a:r>
            <a:r>
              <a:rPr sz="5350" b="1" dirty="0">
                <a:solidFill>
                  <a:srgbClr val="051331"/>
                </a:solidFill>
                <a:latin typeface="Arial MT"/>
                <a:cs typeface="Arial MT"/>
              </a:rPr>
              <a:t>Three </a:t>
            </a:r>
            <a:r>
              <a:rPr sz="5350" b="1" dirty="0">
                <a:solidFill>
                  <a:srgbClr val="071A44"/>
                </a:solidFill>
                <a:latin typeface="Arial MT"/>
                <a:cs typeface="Arial MT"/>
              </a:rPr>
              <a:t>Architectures</a:t>
            </a:r>
            <a:endParaRPr sz="5350" b="1" dirty="0">
              <a:latin typeface="Arial MT"/>
              <a:cs typeface="Arial MT"/>
            </a:endParaRPr>
          </a:p>
        </p:txBody>
      </p:sp>
      <p:sp>
        <p:nvSpPr>
          <p:cNvPr id="58" name="object 5">
            <a:extLst>
              <a:ext uri="{FF2B5EF4-FFF2-40B4-BE49-F238E27FC236}">
                <a16:creationId xmlns:a16="http://schemas.microsoft.com/office/drawing/2014/main" id="{6FCE0E69-8AEE-4843-649E-DCDEA3068445}"/>
              </a:ext>
            </a:extLst>
          </p:cNvPr>
          <p:cNvSpPr txBox="1"/>
          <p:nvPr/>
        </p:nvSpPr>
        <p:spPr>
          <a:xfrm>
            <a:off x="1763182" y="2241946"/>
            <a:ext cx="2983230" cy="1876796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L="6985" algn="ctr">
              <a:lnSpc>
                <a:spcPct val="100000"/>
              </a:lnSpc>
              <a:spcBef>
                <a:spcPts val="1195"/>
              </a:spcBef>
            </a:pPr>
            <a:r>
              <a:rPr sz="5200" dirty="0">
                <a:solidFill>
                  <a:srgbClr val="0C1F44"/>
                </a:solidFill>
                <a:latin typeface="Arial MT"/>
                <a:cs typeface="Arial MT"/>
              </a:rPr>
              <a:t>LSTM</a:t>
            </a:r>
            <a:endParaRPr sz="52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10"/>
              </a:spcBef>
            </a:pPr>
            <a:r>
              <a:rPr sz="2750" dirty="0">
                <a:solidFill>
                  <a:srgbClr val="646464"/>
                </a:solidFill>
                <a:latin typeface="Consolas"/>
                <a:cs typeface="Consolas"/>
              </a:rPr>
              <a:t>The </a:t>
            </a:r>
            <a:r>
              <a:rPr sz="2750" dirty="0">
                <a:solidFill>
                  <a:srgbClr val="676767"/>
                </a:solidFill>
                <a:latin typeface="Consolas"/>
                <a:cs typeface="Consolas"/>
              </a:rPr>
              <a:t>Memory </a:t>
            </a:r>
            <a:r>
              <a:rPr sz="2750" dirty="0">
                <a:solidFill>
                  <a:srgbClr val="5E5E5E"/>
                </a:solidFill>
                <a:latin typeface="Consolas"/>
                <a:cs typeface="Consolas"/>
              </a:rPr>
              <a:t>Expert</a:t>
            </a:r>
            <a:endParaRPr sz="2750">
              <a:latin typeface="Consolas"/>
              <a:cs typeface="Consolas"/>
            </a:endParaRPr>
          </a:p>
        </p:txBody>
      </p:sp>
      <p:sp>
        <p:nvSpPr>
          <p:cNvPr id="59" name="object 6">
            <a:extLst>
              <a:ext uri="{FF2B5EF4-FFF2-40B4-BE49-F238E27FC236}">
                <a16:creationId xmlns:a16="http://schemas.microsoft.com/office/drawing/2014/main" id="{D298623F-1E1C-07D7-234C-83EDBD394F90}"/>
              </a:ext>
            </a:extLst>
          </p:cNvPr>
          <p:cNvSpPr txBox="1"/>
          <p:nvPr/>
        </p:nvSpPr>
        <p:spPr>
          <a:xfrm>
            <a:off x="965200" y="6172200"/>
            <a:ext cx="4986256" cy="2662267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R="5080" algn="ctr">
              <a:lnSpc>
                <a:spcPct val="86200"/>
              </a:lnSpc>
              <a:spcBef>
                <a:spcPts val="625"/>
              </a:spcBef>
            </a:pPr>
            <a:r>
              <a:rPr sz="3200" b="1" dirty="0">
                <a:latin typeface="Consolas" panose="020B0609020204030204" pitchFamily="49" charset="0"/>
                <a:cs typeface="Consolas" panose="020B0609020204030204" pitchFamily="49" charset="0"/>
              </a:rPr>
              <a:t>Long Short-Term </a:t>
            </a:r>
            <a:endParaRPr lang="en-US" sz="3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R="5080" algn="ctr">
              <a:lnSpc>
                <a:spcPct val="86200"/>
              </a:lnSpc>
              <a:spcBef>
                <a:spcPts val="625"/>
              </a:spcBef>
            </a:pPr>
            <a:r>
              <a:rPr sz="3200" b="1" dirty="0">
                <a:latin typeface="Consolas" panose="020B0609020204030204" pitchFamily="49" charset="0"/>
                <a:cs typeface="Consolas" panose="020B0609020204030204" pitchFamily="49" charset="0"/>
              </a:rPr>
              <a:t>Memory</a:t>
            </a:r>
            <a:endParaRPr lang="en-US" sz="3200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R="5080" algn="ctr">
              <a:lnSpc>
                <a:spcPct val="86200"/>
              </a:lnSpc>
              <a:spcBef>
                <a:spcPts val="625"/>
              </a:spcBef>
            </a:pPr>
            <a:endParaRPr lang="en-US" sz="2950" b="1" dirty="0">
              <a:latin typeface="Consolas"/>
              <a:cs typeface="Consolas"/>
            </a:endParaRPr>
          </a:p>
          <a:p>
            <a:pPr marL="457200" marR="5080" lvl="2" indent="-457200" algn="l">
              <a:lnSpc>
                <a:spcPct val="86200"/>
              </a:lnSpc>
              <a:spcBef>
                <a:spcPts val="625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+mn-lt"/>
                <a:cs typeface="Consolas"/>
              </a:rPr>
              <a:t>Specialized for temporal dependencies</a:t>
            </a:r>
            <a:r>
              <a:rPr lang="en-US" sz="2800" dirty="0">
                <a:latin typeface="+mn-lt"/>
                <a:cs typeface="Consolas"/>
              </a:rPr>
              <a:t> and overcoming vanishing gradients</a:t>
            </a:r>
          </a:p>
        </p:txBody>
      </p:sp>
      <p:sp>
        <p:nvSpPr>
          <p:cNvPr id="60" name="object 7">
            <a:extLst>
              <a:ext uri="{FF2B5EF4-FFF2-40B4-BE49-F238E27FC236}">
                <a16:creationId xmlns:a16="http://schemas.microsoft.com/office/drawing/2014/main" id="{1D983886-ED13-BA24-01F6-0E84918FB65A}"/>
              </a:ext>
            </a:extLst>
          </p:cNvPr>
          <p:cNvSpPr txBox="1"/>
          <p:nvPr/>
        </p:nvSpPr>
        <p:spPr>
          <a:xfrm>
            <a:off x="7160150" y="2228230"/>
            <a:ext cx="3136265" cy="147637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R="42545" algn="ctr">
              <a:lnSpc>
                <a:spcPct val="100000"/>
              </a:lnSpc>
              <a:spcBef>
                <a:spcPts val="1105"/>
              </a:spcBef>
            </a:pPr>
            <a:r>
              <a:rPr sz="5400" dirty="0">
                <a:solidFill>
                  <a:srgbClr val="0A1638"/>
                </a:solidFill>
                <a:latin typeface="Arial MT"/>
                <a:cs typeface="Arial MT"/>
              </a:rPr>
              <a:t>CNN </a:t>
            </a:r>
            <a:r>
              <a:rPr sz="5400" dirty="0">
                <a:solidFill>
                  <a:srgbClr val="0C1F48"/>
                </a:solidFill>
                <a:latin typeface="Arial MT"/>
                <a:cs typeface="Arial MT"/>
              </a:rPr>
              <a:t>(1D)</a:t>
            </a:r>
            <a:endParaRPr sz="54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20"/>
              </a:spcBef>
              <a:tabLst>
                <a:tab pos="683260" algn="l"/>
                <a:tab pos="2080260" algn="l"/>
              </a:tabLst>
            </a:pPr>
            <a:r>
              <a:rPr sz="4275" baseline="2923" dirty="0">
                <a:solidFill>
                  <a:srgbClr val="606060"/>
                </a:solidFill>
                <a:latin typeface="Calibri"/>
                <a:cs typeface="Calibri"/>
              </a:rPr>
              <a:t>T</a:t>
            </a:r>
            <a:r>
              <a:rPr lang="en-US" sz="2850" dirty="0">
                <a:solidFill>
                  <a:srgbClr val="606060"/>
                </a:solidFill>
                <a:latin typeface="Calibri"/>
                <a:cs typeface="Calibri"/>
              </a:rPr>
              <a:t>he</a:t>
            </a:r>
            <a:r>
              <a:rPr sz="2850" dirty="0">
                <a:solidFill>
                  <a:srgbClr val="606060"/>
                </a:solidFill>
                <a:latin typeface="Calibri"/>
                <a:cs typeface="Calibri"/>
              </a:rPr>
              <a:t>	</a:t>
            </a:r>
            <a:r>
              <a:rPr sz="2850" dirty="0">
                <a:solidFill>
                  <a:srgbClr val="646464"/>
                </a:solidFill>
                <a:latin typeface="Calibri"/>
                <a:cs typeface="Calibri"/>
              </a:rPr>
              <a:t>Pattern</a:t>
            </a:r>
            <a:r>
              <a:rPr lang="en-US" sz="2850" dirty="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666666"/>
                </a:solidFill>
                <a:latin typeface="Calibri"/>
                <a:cs typeface="Calibri"/>
              </a:rPr>
              <a:t>H</a:t>
            </a:r>
            <a:r>
              <a:rPr lang="en-US" sz="2850" dirty="0">
                <a:solidFill>
                  <a:srgbClr val="666666"/>
                </a:solidFill>
                <a:latin typeface="Calibri"/>
                <a:cs typeface="Calibri"/>
              </a:rPr>
              <a:t>u</a:t>
            </a:r>
            <a:r>
              <a:rPr sz="2850" dirty="0">
                <a:solidFill>
                  <a:srgbClr val="666666"/>
                </a:solidFill>
                <a:latin typeface="Calibri"/>
                <a:cs typeface="Calibri"/>
              </a:rPr>
              <a:t>nter</a:t>
            </a:r>
            <a:endParaRPr sz="2850" dirty="0">
              <a:latin typeface="Calibri"/>
              <a:cs typeface="Calibri"/>
            </a:endParaRPr>
          </a:p>
        </p:txBody>
      </p:sp>
      <p:sp>
        <p:nvSpPr>
          <p:cNvPr id="61" name="object 8">
            <a:extLst>
              <a:ext uri="{FF2B5EF4-FFF2-40B4-BE49-F238E27FC236}">
                <a16:creationId xmlns:a16="http://schemas.microsoft.com/office/drawing/2014/main" id="{DDB311F1-2C66-32DD-A0A9-26267792277B}"/>
              </a:ext>
            </a:extLst>
          </p:cNvPr>
          <p:cNvSpPr txBox="1"/>
          <p:nvPr/>
        </p:nvSpPr>
        <p:spPr>
          <a:xfrm>
            <a:off x="12202050" y="2240310"/>
            <a:ext cx="4215130" cy="1463221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189230">
              <a:lnSpc>
                <a:spcPct val="100000"/>
              </a:lnSpc>
              <a:spcBef>
                <a:spcPts val="1010"/>
              </a:spcBef>
            </a:pPr>
            <a:r>
              <a:rPr sz="5400" dirty="0">
                <a:solidFill>
                  <a:srgbClr val="051336"/>
                </a:solidFill>
                <a:latin typeface="Arial MT"/>
                <a:cs typeface="Arial MT"/>
              </a:rPr>
              <a:t>Transformer</a:t>
            </a:r>
            <a:endParaRPr sz="5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  <a:tabLst>
                <a:tab pos="707390" algn="l"/>
                <a:tab pos="2435860" algn="l"/>
              </a:tabLst>
            </a:pPr>
            <a:r>
              <a:rPr sz="2850" dirty="0">
                <a:solidFill>
                  <a:srgbClr val="606060"/>
                </a:solidFill>
                <a:latin typeface="Calibri"/>
                <a:cs typeface="Calibri"/>
              </a:rPr>
              <a:t>The	</a:t>
            </a:r>
            <a:r>
              <a:rPr lang="en-US" sz="2850" dirty="0">
                <a:solidFill>
                  <a:srgbClr val="606060"/>
                </a:solidFill>
                <a:latin typeface="Calibri"/>
                <a:cs typeface="Calibri"/>
              </a:rPr>
              <a:t>A</a:t>
            </a:r>
            <a:r>
              <a:rPr sz="2850" dirty="0">
                <a:solidFill>
                  <a:srgbClr val="606060"/>
                </a:solidFill>
                <a:latin typeface="Calibri"/>
                <a:cs typeface="Calibri"/>
              </a:rPr>
              <a:t>t</a:t>
            </a:r>
            <a:r>
              <a:rPr lang="en-US" sz="2850" dirty="0">
                <a:solidFill>
                  <a:srgbClr val="606060"/>
                </a:solidFill>
                <a:latin typeface="Calibri"/>
                <a:cs typeface="Calibri"/>
              </a:rPr>
              <a:t>tention</a:t>
            </a:r>
            <a:r>
              <a:rPr lang="en-US" sz="2850" dirty="0">
                <a:solidFill>
                  <a:srgbClr val="626262"/>
                </a:solidFill>
                <a:latin typeface="Calibri"/>
                <a:cs typeface="Calibri"/>
              </a:rPr>
              <a:t> </a:t>
            </a:r>
            <a:r>
              <a:rPr lang="en-US" sz="2850" dirty="0">
                <a:solidFill>
                  <a:srgbClr val="5E5E5E"/>
                </a:solidFill>
                <a:latin typeface="Calibri"/>
                <a:cs typeface="Calibri"/>
              </a:rPr>
              <a:t>M</a:t>
            </a:r>
            <a:r>
              <a:rPr sz="2850" dirty="0">
                <a:solidFill>
                  <a:srgbClr val="5E5E5E"/>
                </a:solidFill>
                <a:latin typeface="Calibri"/>
                <a:cs typeface="Calibri"/>
              </a:rPr>
              <a:t>echan</a:t>
            </a:r>
            <a:r>
              <a:rPr lang="en-US" sz="2850" dirty="0">
                <a:solidFill>
                  <a:srgbClr val="5E5E5E"/>
                </a:solidFill>
                <a:latin typeface="Calibri"/>
                <a:cs typeface="Calibri"/>
              </a:rPr>
              <a:t>i</a:t>
            </a:r>
            <a:r>
              <a:rPr sz="2850" dirty="0">
                <a:solidFill>
                  <a:srgbClr val="5E5E5E"/>
                </a:solidFill>
                <a:latin typeface="Calibri"/>
                <a:cs typeface="Calibri"/>
              </a:rPr>
              <a:t>sm</a:t>
            </a:r>
            <a:endParaRPr sz="2850" dirty="0">
              <a:latin typeface="Calibri"/>
              <a:cs typeface="Calibri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A89EF920-2314-E188-4166-1B5FD1B02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6497" y="3703530"/>
            <a:ext cx="3276600" cy="2443269"/>
          </a:xfrm>
          <a:prstGeom prst="rect">
            <a:avLst/>
          </a:prstGeom>
        </p:spPr>
      </p:pic>
      <p:sp>
        <p:nvSpPr>
          <p:cNvPr id="63" name="object 6">
            <a:extLst>
              <a:ext uri="{FF2B5EF4-FFF2-40B4-BE49-F238E27FC236}">
                <a16:creationId xmlns:a16="http://schemas.microsoft.com/office/drawing/2014/main" id="{6C9D3561-4D2A-6DD2-0E9F-6C13157070DD}"/>
              </a:ext>
            </a:extLst>
          </p:cNvPr>
          <p:cNvSpPr txBox="1"/>
          <p:nvPr/>
        </p:nvSpPr>
        <p:spPr>
          <a:xfrm>
            <a:off x="5647090" y="6146799"/>
            <a:ext cx="6613254" cy="2809552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lang="en-US" sz="3200" b="1" dirty="0">
                <a:latin typeface="Consolas"/>
                <a:cs typeface="Consolas"/>
              </a:rPr>
              <a:t>1D Convolutional </a:t>
            </a:r>
          </a:p>
          <a:p>
            <a:pPr marL="12700" algn="ctr">
              <a:lnSpc>
                <a:spcPct val="100000"/>
              </a:lnSpc>
              <a:spcBef>
                <a:spcPts val="114"/>
              </a:spcBef>
            </a:pPr>
            <a:r>
              <a:rPr lang="en-US" sz="3200" b="1" dirty="0">
                <a:latin typeface="Consolas"/>
                <a:cs typeface="Consolas"/>
              </a:rPr>
              <a:t>Neural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Network</a:t>
            </a:r>
          </a:p>
          <a:p>
            <a:pPr marR="5080" algn="ctr">
              <a:lnSpc>
                <a:spcPct val="86200"/>
              </a:lnSpc>
              <a:spcBef>
                <a:spcPts val="625"/>
              </a:spcBef>
            </a:pPr>
            <a:endParaRPr lang="en-US" sz="2950" b="1" dirty="0">
              <a:latin typeface="Consolas"/>
              <a:cs typeface="Consolas"/>
            </a:endParaRPr>
          </a:p>
          <a:p>
            <a:pPr marL="632460" marR="177800" indent="-457200" algn="l">
              <a:lnSpc>
                <a:spcPct val="84100"/>
              </a:lnSpc>
              <a:spcBef>
                <a:spcPts val="670"/>
              </a:spcBef>
              <a:buFont typeface="Arial" panose="020B0604020202020204" pitchFamily="34" charset="0"/>
              <a:buChar char="•"/>
              <a:tabLst>
                <a:tab pos="775335" algn="l"/>
                <a:tab pos="1233170" algn="l"/>
                <a:tab pos="2148205" algn="l"/>
              </a:tabLst>
            </a:pPr>
            <a:r>
              <a:rPr lang="en-US" sz="2800" dirty="0">
                <a:latin typeface="Calibri"/>
                <a:cs typeface="Calibri"/>
              </a:rPr>
              <a:t>Adapted from image processing to	extract	local short-term trends	efficiently.</a:t>
            </a:r>
          </a:p>
        </p:txBody>
      </p:sp>
      <p:sp>
        <p:nvSpPr>
          <p:cNvPr id="64" name="object 6">
            <a:extLst>
              <a:ext uri="{FF2B5EF4-FFF2-40B4-BE49-F238E27FC236}">
                <a16:creationId xmlns:a16="http://schemas.microsoft.com/office/drawing/2014/main" id="{3BA0120B-1462-8B13-F1D9-CF12C4A20CB6}"/>
              </a:ext>
            </a:extLst>
          </p:cNvPr>
          <p:cNvSpPr txBox="1"/>
          <p:nvPr/>
        </p:nvSpPr>
        <p:spPr>
          <a:xfrm>
            <a:off x="12285744" y="6186397"/>
            <a:ext cx="4986256" cy="179126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R="5080" algn="ctr">
              <a:lnSpc>
                <a:spcPct val="86200"/>
              </a:lnSpc>
              <a:spcBef>
                <a:spcPts val="625"/>
              </a:spcBef>
            </a:pPr>
            <a:r>
              <a:rPr lang="en-US" sz="3200" b="1" dirty="0">
                <a:latin typeface="Consolas"/>
                <a:cs typeface="Consolas"/>
              </a:rPr>
              <a:t>Self-Attention Models</a:t>
            </a:r>
          </a:p>
          <a:p>
            <a:pPr marR="5080" algn="ctr">
              <a:lnSpc>
                <a:spcPct val="86200"/>
              </a:lnSpc>
              <a:spcBef>
                <a:spcPts val="625"/>
              </a:spcBef>
            </a:pPr>
            <a:endParaRPr lang="en-US" sz="2950" b="1" dirty="0">
              <a:latin typeface="Consolas"/>
              <a:cs typeface="Consolas"/>
            </a:endParaRPr>
          </a:p>
          <a:p>
            <a:pPr marL="457200" marR="5080" lvl="2" indent="-457200" algn="l">
              <a:lnSpc>
                <a:spcPct val="86200"/>
              </a:lnSpc>
              <a:spcBef>
                <a:spcPts val="625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  <a:cs typeface="Consolas"/>
              </a:rPr>
              <a:t>Weighs the importance of different time steps in parallel.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693116" y="172673"/>
            <a:ext cx="14103734" cy="1242693"/>
          </a:xfrm>
          <a:prstGeom prst="rect">
            <a:avLst/>
          </a:prstGeom>
        </p:spPr>
        <p:txBody>
          <a:bodyPr vert="horz" wrap="square" lIns="0" tIns="392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5500" spc="-195" dirty="0">
                <a:solidFill>
                  <a:srgbClr val="0A0C0A"/>
                </a:solidFill>
              </a:rPr>
              <a:t>Research</a:t>
            </a:r>
            <a:r>
              <a:rPr sz="5500" spc="5" dirty="0">
                <a:solidFill>
                  <a:srgbClr val="0A0C0A"/>
                </a:solidFill>
              </a:rPr>
              <a:t> </a:t>
            </a:r>
            <a:r>
              <a:rPr sz="5500" spc="-225" dirty="0">
                <a:solidFill>
                  <a:srgbClr val="0A0C0A"/>
                </a:solidFill>
              </a:rPr>
              <a:t>Evidence</a:t>
            </a:r>
            <a:r>
              <a:rPr lang="en-US" sz="5500" spc="-225" dirty="0">
                <a:solidFill>
                  <a:srgbClr val="0A0C0A"/>
                </a:solidFill>
              </a:rPr>
              <a:t>s</a:t>
            </a:r>
            <a:r>
              <a:rPr sz="5500" spc="-275" dirty="0">
                <a:solidFill>
                  <a:srgbClr val="0A0C0A"/>
                </a:solidFill>
              </a:rPr>
              <a:t> </a:t>
            </a:r>
            <a:r>
              <a:rPr sz="5500" spc="-60" dirty="0">
                <a:solidFill>
                  <a:srgbClr val="0A0C0A"/>
                </a:solidFill>
              </a:rPr>
              <a:t>in</a:t>
            </a:r>
            <a:r>
              <a:rPr sz="5500" spc="-620" dirty="0">
                <a:solidFill>
                  <a:srgbClr val="0A0C0A"/>
                </a:solidFill>
              </a:rPr>
              <a:t> </a:t>
            </a:r>
            <a:r>
              <a:rPr sz="5500" spc="-250" dirty="0">
                <a:solidFill>
                  <a:srgbClr val="0A0C0A"/>
                </a:solidFill>
              </a:rPr>
              <a:t>Financial</a:t>
            </a:r>
            <a:r>
              <a:rPr sz="5500" spc="-185" dirty="0">
                <a:solidFill>
                  <a:srgbClr val="0A0C0A"/>
                </a:solidFill>
              </a:rPr>
              <a:t> </a:t>
            </a:r>
            <a:r>
              <a:rPr sz="5500" spc="-204" dirty="0">
                <a:solidFill>
                  <a:srgbClr val="0A0C0A"/>
                </a:solidFill>
              </a:rPr>
              <a:t>Forecasting</a:t>
            </a:r>
            <a:endParaRPr sz="55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6039EF6-B7AE-8CB3-03F3-327762CCE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392954"/>
            <a:ext cx="16292945" cy="746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ject 2">
            <a:extLst>
              <a:ext uri="{FF2B5EF4-FFF2-40B4-BE49-F238E27FC236}">
                <a16:creationId xmlns:a16="http://schemas.microsoft.com/office/drawing/2014/main" id="{3815091D-D511-A951-EF60-9D9406A723C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7099300"/>
            <a:ext cx="342900" cy="723900"/>
          </a:xfrm>
          <a:prstGeom prst="rect">
            <a:avLst/>
          </a:prstGeom>
        </p:spPr>
      </p:pic>
      <p:pic>
        <p:nvPicPr>
          <p:cNvPr id="23" name="object 3">
            <a:extLst>
              <a:ext uri="{FF2B5EF4-FFF2-40B4-BE49-F238E27FC236}">
                <a16:creationId xmlns:a16="http://schemas.microsoft.com/office/drawing/2014/main" id="{25F39AA0-C8CB-AD54-0DDA-83E285ECEC4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07500" y="2743200"/>
            <a:ext cx="7366000" cy="6007100"/>
          </a:xfrm>
          <a:prstGeom prst="rect">
            <a:avLst/>
          </a:prstGeom>
        </p:spPr>
      </p:pic>
      <p:pic>
        <p:nvPicPr>
          <p:cNvPr id="24" name="object 4">
            <a:extLst>
              <a:ext uri="{FF2B5EF4-FFF2-40B4-BE49-F238E27FC236}">
                <a16:creationId xmlns:a16="http://schemas.microsoft.com/office/drawing/2014/main" id="{BFF70E0A-30CD-03D5-02AD-35521D15DD1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07500" y="2502604"/>
            <a:ext cx="7353300" cy="126295"/>
          </a:xfrm>
          <a:prstGeom prst="rect">
            <a:avLst/>
          </a:prstGeom>
        </p:spPr>
      </p:pic>
      <p:sp>
        <p:nvSpPr>
          <p:cNvPr id="25" name="object 5">
            <a:extLst>
              <a:ext uri="{FF2B5EF4-FFF2-40B4-BE49-F238E27FC236}">
                <a16:creationId xmlns:a16="http://schemas.microsoft.com/office/drawing/2014/main" id="{6D1A7D2A-C61D-ECD0-9C6F-AF7243BC40C1}"/>
              </a:ext>
            </a:extLst>
          </p:cNvPr>
          <p:cNvSpPr txBox="1"/>
          <p:nvPr/>
        </p:nvSpPr>
        <p:spPr>
          <a:xfrm>
            <a:off x="885360" y="754944"/>
            <a:ext cx="10677437" cy="867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50" b="1" dirty="0">
                <a:solidFill>
                  <a:srgbClr val="0C2846"/>
                </a:solidFill>
                <a:latin typeface="Arial MT"/>
                <a:cs typeface="Arial MT"/>
              </a:rPr>
              <a:t>Data</a:t>
            </a:r>
            <a:r>
              <a:rPr sz="5550" b="1" spc="-190" dirty="0">
                <a:solidFill>
                  <a:srgbClr val="0C2846"/>
                </a:solidFill>
                <a:latin typeface="Arial MT"/>
                <a:cs typeface="Arial MT"/>
              </a:rPr>
              <a:t> </a:t>
            </a:r>
            <a:r>
              <a:rPr sz="5550" b="1" spc="90" dirty="0">
                <a:solidFill>
                  <a:srgbClr val="081F3F"/>
                </a:solidFill>
                <a:latin typeface="Arial MT"/>
                <a:cs typeface="Arial MT"/>
              </a:rPr>
              <a:t>Acquisition</a:t>
            </a:r>
            <a:r>
              <a:rPr sz="5550" b="1" spc="-160" dirty="0">
                <a:solidFill>
                  <a:srgbClr val="081F3F"/>
                </a:solidFill>
                <a:latin typeface="Arial MT"/>
                <a:cs typeface="Arial MT"/>
              </a:rPr>
              <a:t> </a:t>
            </a:r>
            <a:r>
              <a:rPr sz="5550" b="1" spc="220" dirty="0">
                <a:solidFill>
                  <a:srgbClr val="071F3B"/>
                </a:solidFill>
                <a:latin typeface="Arial MT"/>
                <a:cs typeface="Arial MT"/>
              </a:rPr>
              <a:t>&amp;</a:t>
            </a:r>
            <a:r>
              <a:rPr sz="5550" b="1" spc="-560" dirty="0">
                <a:solidFill>
                  <a:srgbClr val="071F3B"/>
                </a:solidFill>
                <a:latin typeface="Arial MT"/>
                <a:cs typeface="Arial MT"/>
              </a:rPr>
              <a:t> </a:t>
            </a:r>
            <a:r>
              <a:rPr sz="5550" b="1" spc="-10" dirty="0">
                <a:solidFill>
                  <a:srgbClr val="08213D"/>
                </a:solidFill>
                <a:latin typeface="Arial MT"/>
                <a:cs typeface="Arial MT"/>
              </a:rPr>
              <a:t>Preparation</a:t>
            </a:r>
            <a:endParaRPr sz="5550" b="1" dirty="0">
              <a:latin typeface="Arial MT"/>
              <a:cs typeface="Arial MT"/>
            </a:endParaRPr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6932A502-3ACA-9CEB-22A7-82A9B0470F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7562" y="2502605"/>
            <a:ext cx="3525520" cy="180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950" spc="-25" dirty="0">
                <a:solidFill>
                  <a:srgbClr val="C8561C"/>
                </a:solidFill>
              </a:rPr>
              <a:t>17</a:t>
            </a:r>
            <a:endParaRPr sz="6950" dirty="0"/>
          </a:p>
          <a:p>
            <a:pPr marL="29209" marR="5080" indent="5715">
              <a:lnSpc>
                <a:spcPts val="2650"/>
              </a:lnSpc>
              <a:spcBef>
                <a:spcPts val="439"/>
              </a:spcBef>
            </a:pPr>
            <a:r>
              <a:rPr sz="2400" spc="-125" dirty="0">
                <a:solidFill>
                  <a:srgbClr val="070707"/>
                </a:solidFill>
                <a:latin typeface="Consolas"/>
                <a:cs typeface="Consolas"/>
              </a:rPr>
              <a:t>Commercia</a:t>
            </a:r>
            <a:r>
              <a:rPr lang="en-US" sz="2400" spc="-125" dirty="0">
                <a:solidFill>
                  <a:srgbClr val="070707"/>
                </a:solidFill>
                <a:latin typeface="Consolas"/>
                <a:cs typeface="Consolas"/>
              </a:rPr>
              <a:t>l</a:t>
            </a:r>
            <a:r>
              <a:rPr sz="2400" spc="-135" dirty="0">
                <a:solidFill>
                  <a:srgbClr val="070707"/>
                </a:solidFill>
                <a:latin typeface="Consolas"/>
                <a:cs typeface="Consolas"/>
              </a:rPr>
              <a:t> </a:t>
            </a:r>
            <a:r>
              <a:rPr sz="2400" spc="-10" dirty="0">
                <a:solidFill>
                  <a:srgbClr val="111111"/>
                </a:solidFill>
                <a:latin typeface="Consolas"/>
                <a:cs typeface="Consolas"/>
              </a:rPr>
              <a:t>Banks </a:t>
            </a:r>
            <a:r>
              <a:rPr sz="2400" spc="-195" dirty="0">
                <a:solidFill>
                  <a:srgbClr val="0F0F0F"/>
                </a:solidFill>
                <a:latin typeface="Consolas"/>
                <a:cs typeface="Consolas"/>
              </a:rPr>
              <a:t>(NABIL,</a:t>
            </a:r>
            <a:r>
              <a:rPr sz="2400" spc="-60" dirty="0">
                <a:solidFill>
                  <a:srgbClr val="0F0F0F"/>
                </a:solidFill>
                <a:latin typeface="Consolas"/>
                <a:cs typeface="Consolas"/>
              </a:rPr>
              <a:t> </a:t>
            </a:r>
            <a:r>
              <a:rPr sz="2400" spc="-225" dirty="0">
                <a:solidFill>
                  <a:srgbClr val="151515"/>
                </a:solidFill>
                <a:latin typeface="Consolas"/>
                <a:cs typeface="Consolas"/>
              </a:rPr>
              <a:t>NICA,</a:t>
            </a:r>
            <a:r>
              <a:rPr sz="2400" spc="-120" dirty="0">
                <a:solidFill>
                  <a:srgbClr val="151515"/>
                </a:solidFill>
                <a:latin typeface="Consolas"/>
                <a:cs typeface="Consolas"/>
              </a:rPr>
              <a:t> </a:t>
            </a:r>
            <a:r>
              <a:rPr sz="2400" spc="-190" dirty="0">
                <a:solidFill>
                  <a:srgbClr val="131313"/>
                </a:solidFill>
                <a:latin typeface="Consolas"/>
                <a:cs typeface="Consolas"/>
              </a:rPr>
              <a:t>SCB,</a:t>
            </a:r>
            <a:r>
              <a:rPr sz="2400" spc="-120" dirty="0">
                <a:solidFill>
                  <a:srgbClr val="131313"/>
                </a:solidFill>
                <a:latin typeface="Consolas"/>
                <a:cs typeface="Consolas"/>
              </a:rPr>
              <a:t> </a:t>
            </a:r>
            <a:r>
              <a:rPr sz="2400" spc="-180" dirty="0">
                <a:solidFill>
                  <a:srgbClr val="111111"/>
                </a:solidFill>
                <a:latin typeface="Consolas"/>
                <a:cs typeface="Consolas"/>
              </a:rPr>
              <a:t>etc.)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27" name="object 7">
            <a:extLst>
              <a:ext uri="{FF2B5EF4-FFF2-40B4-BE49-F238E27FC236}">
                <a16:creationId xmlns:a16="http://schemas.microsoft.com/office/drawing/2014/main" id="{AFCF3B88-CA0A-1B29-B7D4-CAAF987FECED}"/>
              </a:ext>
            </a:extLst>
          </p:cNvPr>
          <p:cNvSpPr txBox="1"/>
          <p:nvPr/>
        </p:nvSpPr>
        <p:spPr>
          <a:xfrm>
            <a:off x="4901935" y="2502605"/>
            <a:ext cx="3277235" cy="180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95"/>
              </a:spcBef>
            </a:pPr>
            <a:r>
              <a:rPr sz="6950" spc="260" dirty="0">
                <a:solidFill>
                  <a:srgbClr val="BF4F1D"/>
                </a:solidFill>
                <a:latin typeface="Calibri"/>
                <a:cs typeface="Calibri"/>
              </a:rPr>
              <a:t>53,</a:t>
            </a:r>
            <a:r>
              <a:rPr sz="6950" spc="-490" dirty="0">
                <a:solidFill>
                  <a:srgbClr val="BF4F1D"/>
                </a:solidFill>
                <a:latin typeface="Calibri"/>
                <a:cs typeface="Calibri"/>
              </a:rPr>
              <a:t> </a:t>
            </a:r>
            <a:r>
              <a:rPr lang="en-US" sz="6950" spc="-445" dirty="0">
                <a:solidFill>
                  <a:srgbClr val="BF5221"/>
                </a:solidFill>
                <a:latin typeface="Calibri"/>
                <a:cs typeface="Calibri"/>
              </a:rPr>
              <a:t>0</a:t>
            </a:r>
            <a:r>
              <a:rPr sz="6950" spc="-445" dirty="0">
                <a:solidFill>
                  <a:srgbClr val="BF5221"/>
                </a:solidFill>
                <a:latin typeface="Calibri"/>
                <a:cs typeface="Calibri"/>
              </a:rPr>
              <a:t>63</a:t>
            </a:r>
            <a:endParaRPr sz="6950" dirty="0">
              <a:latin typeface="Calibri"/>
              <a:cs typeface="Calibri"/>
            </a:endParaRPr>
          </a:p>
          <a:p>
            <a:pPr marL="18415" marR="5080" indent="-6350">
              <a:lnSpc>
                <a:spcPts val="2650"/>
              </a:lnSpc>
              <a:spcBef>
                <a:spcPts val="439"/>
              </a:spcBef>
            </a:pPr>
            <a:r>
              <a:rPr sz="2400" spc="-100" dirty="0">
                <a:solidFill>
                  <a:srgbClr val="0C0C0C"/>
                </a:solidFill>
                <a:latin typeface="Consolas"/>
                <a:cs typeface="Consolas"/>
              </a:rPr>
              <a:t>Total</a:t>
            </a:r>
            <a:r>
              <a:rPr sz="2400" spc="-235" dirty="0">
                <a:solidFill>
                  <a:srgbClr val="0C0C0C"/>
                </a:solidFill>
                <a:latin typeface="Consolas"/>
                <a:cs typeface="Consolas"/>
              </a:rPr>
              <a:t> </a:t>
            </a:r>
            <a:r>
              <a:rPr sz="2400" spc="-100" dirty="0">
                <a:solidFill>
                  <a:srgbClr val="111111"/>
                </a:solidFill>
                <a:latin typeface="Consolas"/>
                <a:cs typeface="Consolas"/>
              </a:rPr>
              <a:t>Trading</a:t>
            </a:r>
            <a:r>
              <a:rPr sz="2400" spc="-165" dirty="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sz="2400" spc="-100" dirty="0">
                <a:solidFill>
                  <a:srgbClr val="181818"/>
                </a:solidFill>
                <a:latin typeface="Consolas"/>
                <a:cs typeface="Consolas"/>
              </a:rPr>
              <a:t>Records </a:t>
            </a:r>
            <a:r>
              <a:rPr sz="2400" spc="-145" dirty="0">
                <a:solidFill>
                  <a:srgbClr val="0C0C0C"/>
                </a:solidFill>
                <a:latin typeface="Consolas"/>
                <a:cs typeface="Consolas"/>
              </a:rPr>
              <a:t>(2009-</a:t>
            </a:r>
            <a:r>
              <a:rPr sz="2400" spc="-10" dirty="0">
                <a:solidFill>
                  <a:srgbClr val="0C0C0C"/>
                </a:solidFill>
                <a:latin typeface="Consolas"/>
                <a:cs typeface="Consolas"/>
              </a:rPr>
              <a:t>2025)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28" name="object 8">
            <a:extLst>
              <a:ext uri="{FF2B5EF4-FFF2-40B4-BE49-F238E27FC236}">
                <a16:creationId xmlns:a16="http://schemas.microsoft.com/office/drawing/2014/main" id="{D12209B0-0DDD-4E12-F850-ED0A1596827F}"/>
              </a:ext>
            </a:extLst>
          </p:cNvPr>
          <p:cNvSpPr txBox="1"/>
          <p:nvPr/>
        </p:nvSpPr>
        <p:spPr>
          <a:xfrm>
            <a:off x="9458487" y="3661127"/>
            <a:ext cx="812800" cy="364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spc="50" dirty="0">
                <a:solidFill>
                  <a:srgbClr val="696969"/>
                </a:solidFill>
                <a:latin typeface="Calibri"/>
                <a:cs typeface="Calibri"/>
              </a:rPr>
              <a:t>2</a:t>
            </a:r>
            <a:r>
              <a:rPr lang="en-US" sz="2200" spc="50" dirty="0">
                <a:solidFill>
                  <a:srgbClr val="696969"/>
                </a:solidFill>
                <a:latin typeface="Calibri"/>
                <a:cs typeface="Calibri"/>
              </a:rPr>
              <a:t>0</a:t>
            </a:r>
            <a:r>
              <a:rPr sz="2200" spc="-114" dirty="0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666666"/>
                </a:solidFill>
                <a:latin typeface="Calibri"/>
                <a:cs typeface="Calibri"/>
              </a:rPr>
              <a:t>.</a:t>
            </a:r>
            <a:r>
              <a:rPr sz="2200" spc="-50" dirty="0">
                <a:solidFill>
                  <a:srgbClr val="666666"/>
                </a:solidFill>
                <a:latin typeface="Calibri"/>
                <a:cs typeface="Calibri"/>
              </a:rPr>
              <a:t> </a:t>
            </a:r>
            <a:r>
              <a:rPr sz="2200" spc="-140" dirty="0">
                <a:solidFill>
                  <a:srgbClr val="6B6B6B"/>
                </a:solidFill>
                <a:latin typeface="Calibri"/>
                <a:cs typeface="Calibri"/>
              </a:rPr>
              <a:t>4</a:t>
            </a:r>
            <a:r>
              <a:rPr sz="2200" spc="-215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lang="en-US" sz="2200" spc="-60" dirty="0">
                <a:solidFill>
                  <a:srgbClr val="6E6E6E"/>
                </a:solidFill>
                <a:latin typeface="Calibri"/>
                <a:cs typeface="Calibri"/>
              </a:rPr>
              <a:t>0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29" name="object 9">
            <a:extLst>
              <a:ext uri="{FF2B5EF4-FFF2-40B4-BE49-F238E27FC236}">
                <a16:creationId xmlns:a16="http://schemas.microsoft.com/office/drawing/2014/main" id="{3D31D8F7-7BF5-2867-B961-AF3831663F19}"/>
              </a:ext>
            </a:extLst>
          </p:cNvPr>
          <p:cNvSpPr txBox="1"/>
          <p:nvPr/>
        </p:nvSpPr>
        <p:spPr>
          <a:xfrm>
            <a:off x="12075179" y="3682647"/>
            <a:ext cx="803910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dirty="0">
                <a:solidFill>
                  <a:srgbClr val="646464"/>
                </a:solidFill>
                <a:latin typeface="Calibri"/>
                <a:cs typeface="Calibri"/>
              </a:rPr>
              <a:t>2</a:t>
            </a:r>
            <a:r>
              <a:rPr lang="en-US" sz="2150" dirty="0">
                <a:solidFill>
                  <a:srgbClr val="646464"/>
                </a:solidFill>
                <a:latin typeface="Calibri"/>
                <a:cs typeface="Calibri"/>
              </a:rPr>
              <a:t>0</a:t>
            </a:r>
            <a:r>
              <a:rPr sz="2150" spc="30" dirty="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646464"/>
                </a:solidFill>
                <a:latin typeface="Calibri"/>
                <a:cs typeface="Calibri"/>
              </a:rPr>
              <a:t>.</a:t>
            </a:r>
            <a:r>
              <a:rPr sz="2150" spc="-55" dirty="0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lang="en-US" sz="2150" spc="55" dirty="0">
                <a:solidFill>
                  <a:srgbClr val="676767"/>
                </a:solidFill>
                <a:latin typeface="Calibri"/>
                <a:cs typeface="Calibri"/>
              </a:rPr>
              <a:t>6</a:t>
            </a:r>
            <a:r>
              <a:rPr sz="2150" spc="55" dirty="0">
                <a:solidFill>
                  <a:srgbClr val="676767"/>
                </a:solidFill>
                <a:latin typeface="Calibri"/>
                <a:cs typeface="Calibri"/>
              </a:rPr>
              <a:t>3</a:t>
            </a:r>
            <a:endParaRPr sz="2150" dirty="0">
              <a:latin typeface="Calibri"/>
              <a:cs typeface="Calibri"/>
            </a:endParaRPr>
          </a:p>
        </p:txBody>
      </p:sp>
      <p:sp>
        <p:nvSpPr>
          <p:cNvPr id="30" name="object 10">
            <a:extLst>
              <a:ext uri="{FF2B5EF4-FFF2-40B4-BE49-F238E27FC236}">
                <a16:creationId xmlns:a16="http://schemas.microsoft.com/office/drawing/2014/main" id="{76937278-7BE8-8FAB-8105-207CB7C891A8}"/>
              </a:ext>
            </a:extLst>
          </p:cNvPr>
          <p:cNvSpPr txBox="1"/>
          <p:nvPr/>
        </p:nvSpPr>
        <p:spPr>
          <a:xfrm>
            <a:off x="13370585" y="3682647"/>
            <a:ext cx="810895" cy="35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65" dirty="0">
                <a:solidFill>
                  <a:srgbClr val="676767"/>
                </a:solidFill>
                <a:latin typeface="Calibri"/>
                <a:cs typeface="Calibri"/>
              </a:rPr>
              <a:t>20.</a:t>
            </a:r>
            <a:r>
              <a:rPr sz="2150" spc="405" dirty="0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lang="en-US" sz="2150" spc="25" dirty="0">
                <a:solidFill>
                  <a:srgbClr val="676767"/>
                </a:solidFill>
                <a:latin typeface="Calibri"/>
                <a:cs typeface="Calibri"/>
              </a:rPr>
              <a:t>0</a:t>
            </a:r>
            <a:r>
              <a:rPr sz="2150" spc="25" dirty="0">
                <a:solidFill>
                  <a:srgbClr val="676767"/>
                </a:solidFill>
                <a:latin typeface="Calibri"/>
                <a:cs typeface="Calibri"/>
              </a:rPr>
              <a:t>8</a:t>
            </a:r>
            <a:endParaRPr sz="2150" dirty="0">
              <a:latin typeface="Calibri"/>
              <a:cs typeface="Calibri"/>
            </a:endParaRPr>
          </a:p>
        </p:txBody>
      </p:sp>
      <p:sp>
        <p:nvSpPr>
          <p:cNvPr id="31" name="object 11">
            <a:extLst>
              <a:ext uri="{FF2B5EF4-FFF2-40B4-BE49-F238E27FC236}">
                <a16:creationId xmlns:a16="http://schemas.microsoft.com/office/drawing/2014/main" id="{FB933377-708C-B4EB-F57C-A7E48032CDDE}"/>
              </a:ext>
            </a:extLst>
          </p:cNvPr>
          <p:cNvSpPr txBox="1"/>
          <p:nvPr/>
        </p:nvSpPr>
        <p:spPr>
          <a:xfrm>
            <a:off x="9457015" y="4409369"/>
            <a:ext cx="4721860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320165" algn="l"/>
                <a:tab pos="2628265" algn="l"/>
                <a:tab pos="3923665" algn="l"/>
                <a:tab pos="4420870" algn="l"/>
              </a:tabLst>
            </a:pPr>
            <a:r>
              <a:rPr sz="2400" spc="-45" dirty="0">
                <a:solidFill>
                  <a:srgbClr val="676767"/>
                </a:solidFill>
                <a:latin typeface="Calibri"/>
                <a:cs typeface="Calibri"/>
              </a:rPr>
              <a:t>20</a:t>
            </a:r>
            <a:r>
              <a:rPr sz="2400" spc="-150" dirty="0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6B6B6B"/>
                </a:solidFill>
                <a:latin typeface="Calibri"/>
                <a:cs typeface="Calibri"/>
              </a:rPr>
              <a:t>.</a:t>
            </a:r>
            <a:r>
              <a:rPr sz="2400" spc="-5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B6B6B"/>
                </a:solidFill>
                <a:latin typeface="Calibri"/>
                <a:cs typeface="Calibri"/>
              </a:rPr>
              <a:t>80</a:t>
            </a:r>
            <a:r>
              <a:rPr sz="2400" dirty="0">
                <a:solidFill>
                  <a:srgbClr val="6B6B6B"/>
                </a:solidFill>
                <a:latin typeface="Calibri"/>
                <a:cs typeface="Calibri"/>
              </a:rPr>
              <a:t>	</a:t>
            </a:r>
            <a:r>
              <a:rPr sz="2400" spc="105" dirty="0">
                <a:solidFill>
                  <a:srgbClr val="606060"/>
                </a:solidFill>
                <a:latin typeface="Calibri"/>
                <a:cs typeface="Calibri"/>
              </a:rPr>
              <a:t>21.</a:t>
            </a:r>
            <a:r>
              <a:rPr sz="2400" spc="-105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5D5D5D"/>
                </a:solidFill>
                <a:latin typeface="Calibri"/>
                <a:cs typeface="Calibri"/>
              </a:rPr>
              <a:t>57</a:t>
            </a:r>
            <a:r>
              <a:rPr sz="2400" dirty="0">
                <a:solidFill>
                  <a:srgbClr val="5D5D5D"/>
                </a:solidFill>
                <a:latin typeface="Calibri"/>
                <a:cs typeface="Calibri"/>
              </a:rPr>
              <a:t>	</a:t>
            </a:r>
            <a:r>
              <a:rPr sz="2400" spc="105" dirty="0">
                <a:solidFill>
                  <a:srgbClr val="5E5E5E"/>
                </a:solidFill>
                <a:latin typeface="Calibri"/>
                <a:cs typeface="Calibri"/>
              </a:rPr>
              <a:t>21.</a:t>
            </a:r>
            <a:r>
              <a:rPr sz="2400" spc="-105" dirty="0">
                <a:solidFill>
                  <a:srgbClr val="5E5E5E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6B6B6B"/>
                </a:solidFill>
                <a:latin typeface="Calibri"/>
                <a:cs typeface="Calibri"/>
              </a:rPr>
              <a:t>57</a:t>
            </a:r>
            <a:r>
              <a:rPr sz="2400" dirty="0">
                <a:solidFill>
                  <a:srgbClr val="6B6B6B"/>
                </a:solidFill>
                <a:latin typeface="Calibri"/>
                <a:cs typeface="Calibri"/>
              </a:rPr>
              <a:t>	</a:t>
            </a:r>
            <a:r>
              <a:rPr sz="2400" spc="-25" dirty="0">
                <a:solidFill>
                  <a:srgbClr val="5B5B5B"/>
                </a:solidFill>
                <a:latin typeface="Calibri"/>
                <a:cs typeface="Calibri"/>
              </a:rPr>
              <a:t>21.</a:t>
            </a:r>
            <a:r>
              <a:rPr sz="2400" dirty="0">
                <a:solidFill>
                  <a:srgbClr val="5B5B5B"/>
                </a:solidFill>
                <a:latin typeface="Calibri"/>
                <a:cs typeface="Calibri"/>
              </a:rPr>
              <a:t>	</a:t>
            </a:r>
            <a:r>
              <a:rPr sz="2400" spc="-60" dirty="0">
                <a:solidFill>
                  <a:srgbClr val="626262"/>
                </a:solidFill>
                <a:latin typeface="Calibri"/>
                <a:cs typeface="Calibri"/>
              </a:rPr>
              <a:t>58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2" name="object 12">
            <a:extLst>
              <a:ext uri="{FF2B5EF4-FFF2-40B4-BE49-F238E27FC236}">
                <a16:creationId xmlns:a16="http://schemas.microsoft.com/office/drawing/2014/main" id="{18649E97-625D-00BA-5360-328D85538122}"/>
              </a:ext>
            </a:extLst>
          </p:cNvPr>
          <p:cNvSpPr txBox="1"/>
          <p:nvPr/>
        </p:nvSpPr>
        <p:spPr>
          <a:xfrm>
            <a:off x="893612" y="4665486"/>
            <a:ext cx="3041650" cy="18148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323340" algn="l"/>
              </a:tabLst>
            </a:pPr>
            <a:r>
              <a:rPr sz="7000" spc="-575" dirty="0">
                <a:solidFill>
                  <a:srgbClr val="C8561F"/>
                </a:solidFill>
                <a:latin typeface="Arial MT"/>
                <a:cs typeface="Arial MT"/>
              </a:rPr>
              <a:t>6</a:t>
            </a:r>
            <a:r>
              <a:rPr lang="en-US" sz="7000" spc="-575" dirty="0">
                <a:solidFill>
                  <a:srgbClr val="C8561F"/>
                </a:solidFill>
                <a:latin typeface="Arial MT"/>
                <a:cs typeface="Arial MT"/>
              </a:rPr>
              <a:t>0</a:t>
            </a:r>
            <a:r>
              <a:rPr sz="7000" dirty="0">
                <a:solidFill>
                  <a:srgbClr val="C8561F"/>
                </a:solidFill>
                <a:latin typeface="Arial MT"/>
                <a:cs typeface="Arial MT"/>
              </a:rPr>
              <a:t>	</a:t>
            </a:r>
            <a:r>
              <a:rPr sz="7000" spc="-660" dirty="0">
                <a:solidFill>
                  <a:srgbClr val="C14F1A"/>
                </a:solidFill>
                <a:latin typeface="Arial MT"/>
                <a:cs typeface="Arial MT"/>
              </a:rPr>
              <a:t>Days</a:t>
            </a:r>
            <a:endParaRPr sz="7000" dirty="0">
              <a:latin typeface="Arial MT"/>
              <a:cs typeface="Arial MT"/>
            </a:endParaRPr>
          </a:p>
          <a:p>
            <a:pPr marL="17145" marR="708025">
              <a:lnSpc>
                <a:spcPts val="2700"/>
              </a:lnSpc>
              <a:spcBef>
                <a:spcPts val="340"/>
              </a:spcBef>
            </a:pPr>
            <a:r>
              <a:rPr sz="2350" spc="-75" dirty="0">
                <a:solidFill>
                  <a:srgbClr val="161616"/>
                </a:solidFill>
                <a:latin typeface="Consolas"/>
                <a:cs typeface="Consolas"/>
              </a:rPr>
              <a:t>Sliding</a:t>
            </a:r>
            <a:r>
              <a:rPr sz="2350" spc="-200" dirty="0">
                <a:solidFill>
                  <a:srgbClr val="161616"/>
                </a:solidFill>
                <a:latin typeface="Consolas"/>
                <a:cs typeface="Consolas"/>
              </a:rPr>
              <a:t> </a:t>
            </a:r>
            <a:r>
              <a:rPr sz="2350" spc="-10" dirty="0">
                <a:solidFill>
                  <a:srgbClr val="151515"/>
                </a:solidFill>
                <a:latin typeface="Consolas"/>
                <a:cs typeface="Consolas"/>
              </a:rPr>
              <a:t>Window </a:t>
            </a:r>
            <a:r>
              <a:rPr sz="2350" spc="-80" dirty="0">
                <a:solidFill>
                  <a:srgbClr val="131313"/>
                </a:solidFill>
                <a:latin typeface="Consolas"/>
                <a:cs typeface="Consolas"/>
              </a:rPr>
              <a:t>Sequence</a:t>
            </a:r>
            <a:r>
              <a:rPr sz="2350" spc="-195" dirty="0">
                <a:solidFill>
                  <a:srgbClr val="131313"/>
                </a:solidFill>
                <a:latin typeface="Consolas"/>
                <a:cs typeface="Consolas"/>
              </a:rPr>
              <a:t> </a:t>
            </a:r>
            <a:r>
              <a:rPr sz="2350" spc="-65" dirty="0">
                <a:solidFill>
                  <a:srgbClr val="181818"/>
                </a:solidFill>
                <a:latin typeface="Consolas"/>
                <a:cs typeface="Consolas"/>
              </a:rPr>
              <a:t>Length</a:t>
            </a:r>
            <a:endParaRPr sz="2350" dirty="0">
              <a:latin typeface="Consolas"/>
              <a:cs typeface="Consolas"/>
            </a:endParaRPr>
          </a:p>
        </p:txBody>
      </p:sp>
      <p:sp>
        <p:nvSpPr>
          <p:cNvPr id="33" name="object 13">
            <a:extLst>
              <a:ext uri="{FF2B5EF4-FFF2-40B4-BE49-F238E27FC236}">
                <a16:creationId xmlns:a16="http://schemas.microsoft.com/office/drawing/2014/main" id="{DDE99950-818D-C715-0764-78767A3C6AE1}"/>
              </a:ext>
            </a:extLst>
          </p:cNvPr>
          <p:cNvSpPr txBox="1"/>
          <p:nvPr/>
        </p:nvSpPr>
        <p:spPr>
          <a:xfrm>
            <a:off x="4892629" y="4665486"/>
            <a:ext cx="3505835" cy="18148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0" spc="-25" dirty="0">
                <a:solidFill>
                  <a:srgbClr val="CA561D"/>
                </a:solidFill>
                <a:latin typeface="Arial MT"/>
                <a:cs typeface="Arial MT"/>
              </a:rPr>
              <a:t>Features</a:t>
            </a:r>
            <a:endParaRPr sz="7000">
              <a:latin typeface="Arial MT"/>
              <a:cs typeface="Arial MT"/>
            </a:endParaRPr>
          </a:p>
          <a:p>
            <a:pPr marL="33655">
              <a:lnSpc>
                <a:spcPts val="2760"/>
              </a:lnSpc>
              <a:spcBef>
                <a:spcPts val="150"/>
              </a:spcBef>
            </a:pPr>
            <a:r>
              <a:rPr sz="2350" spc="-65" dirty="0">
                <a:solidFill>
                  <a:srgbClr val="161616"/>
                </a:solidFill>
                <a:latin typeface="Consolas"/>
                <a:cs typeface="Consolas"/>
              </a:rPr>
              <a:t>Close</a:t>
            </a:r>
            <a:r>
              <a:rPr sz="2350" spc="-210" dirty="0">
                <a:solidFill>
                  <a:srgbClr val="161616"/>
                </a:solidFill>
                <a:latin typeface="Consolas"/>
                <a:cs typeface="Consolas"/>
              </a:rPr>
              <a:t> </a:t>
            </a:r>
            <a:r>
              <a:rPr sz="2350" spc="-25" dirty="0">
                <a:solidFill>
                  <a:srgbClr val="151515"/>
                </a:solidFill>
                <a:latin typeface="Consolas"/>
                <a:cs typeface="Consolas"/>
              </a:rPr>
              <a:t>Price</a:t>
            </a:r>
            <a:r>
              <a:rPr sz="2350" spc="-235" dirty="0">
                <a:solidFill>
                  <a:srgbClr val="151515"/>
                </a:solidFill>
                <a:latin typeface="Consolas"/>
                <a:cs typeface="Consolas"/>
              </a:rPr>
              <a:t> </a:t>
            </a:r>
            <a:r>
              <a:rPr sz="2350" dirty="0">
                <a:solidFill>
                  <a:srgbClr val="1C1C1C"/>
                </a:solidFill>
                <a:latin typeface="Consolas"/>
                <a:cs typeface="Consolas"/>
              </a:rPr>
              <a:t>+</a:t>
            </a:r>
            <a:r>
              <a:rPr sz="2350" spc="-240" dirty="0">
                <a:solidFill>
                  <a:srgbClr val="1C1C1C"/>
                </a:solidFill>
                <a:latin typeface="Consolas"/>
                <a:cs typeface="Consolas"/>
              </a:rPr>
              <a:t> </a:t>
            </a:r>
            <a:r>
              <a:rPr sz="2350" spc="-10" dirty="0">
                <a:solidFill>
                  <a:srgbClr val="111111"/>
                </a:solidFill>
                <a:latin typeface="Consolas"/>
                <a:cs typeface="Consolas"/>
              </a:rPr>
              <a:t>Momentum</a:t>
            </a:r>
            <a:endParaRPr sz="2350">
              <a:latin typeface="Consolas"/>
              <a:cs typeface="Consolas"/>
            </a:endParaRPr>
          </a:p>
          <a:p>
            <a:pPr marL="34925">
              <a:lnSpc>
                <a:spcPts val="2760"/>
              </a:lnSpc>
            </a:pPr>
            <a:r>
              <a:rPr sz="2350" dirty="0">
                <a:solidFill>
                  <a:srgbClr val="08182F"/>
                </a:solidFill>
                <a:latin typeface="Consolas"/>
                <a:cs typeface="Consolas"/>
              </a:rPr>
              <a:t>+</a:t>
            </a:r>
            <a:r>
              <a:rPr sz="2350" spc="-275" dirty="0">
                <a:solidFill>
                  <a:srgbClr val="08182F"/>
                </a:solidFill>
                <a:latin typeface="Consolas"/>
                <a:cs typeface="Consolas"/>
              </a:rPr>
              <a:t> </a:t>
            </a:r>
            <a:r>
              <a:rPr sz="2350" spc="-75" dirty="0">
                <a:solidFill>
                  <a:srgbClr val="0F0F0F"/>
                </a:solidFill>
                <a:latin typeface="Consolas"/>
                <a:cs typeface="Consolas"/>
              </a:rPr>
              <a:t>Company</a:t>
            </a:r>
            <a:r>
              <a:rPr sz="2350" spc="-125" dirty="0">
                <a:solidFill>
                  <a:srgbClr val="0F0F0F"/>
                </a:solidFill>
                <a:latin typeface="Consolas"/>
                <a:cs typeface="Consolas"/>
              </a:rPr>
              <a:t> </a:t>
            </a:r>
            <a:r>
              <a:rPr sz="2350" spc="-10" dirty="0">
                <a:solidFill>
                  <a:srgbClr val="0C0C0C"/>
                </a:solidFill>
                <a:latin typeface="Consolas"/>
                <a:cs typeface="Consolas"/>
              </a:rPr>
              <a:t>Embeddings</a:t>
            </a:r>
            <a:endParaRPr sz="2350">
              <a:latin typeface="Consolas"/>
              <a:cs typeface="Consolas"/>
            </a:endParaRPr>
          </a:p>
        </p:txBody>
      </p:sp>
      <p:sp>
        <p:nvSpPr>
          <p:cNvPr id="34" name="object 14">
            <a:extLst>
              <a:ext uri="{FF2B5EF4-FFF2-40B4-BE49-F238E27FC236}">
                <a16:creationId xmlns:a16="http://schemas.microsoft.com/office/drawing/2014/main" id="{6B91948A-E5BB-DD8E-0FD7-892FCFB41027}"/>
              </a:ext>
            </a:extLst>
          </p:cNvPr>
          <p:cNvSpPr txBox="1"/>
          <p:nvPr/>
        </p:nvSpPr>
        <p:spPr>
          <a:xfrm>
            <a:off x="892840" y="6805497"/>
            <a:ext cx="3088640" cy="184785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  <a:tabLst>
                <a:tab pos="2208530" algn="l"/>
              </a:tabLst>
            </a:pPr>
            <a:r>
              <a:rPr sz="6700" spc="-25" dirty="0">
                <a:solidFill>
                  <a:srgbClr val="C14F1A"/>
                </a:solidFill>
                <a:latin typeface="Calibri"/>
                <a:cs typeface="Calibri"/>
              </a:rPr>
              <a:t>8</a:t>
            </a:r>
            <a:r>
              <a:rPr lang="en-US" sz="6700" spc="-25" dirty="0">
                <a:solidFill>
                  <a:srgbClr val="C14F1A"/>
                </a:solidFill>
                <a:latin typeface="Calibri"/>
                <a:cs typeface="Calibri"/>
              </a:rPr>
              <a:t>0</a:t>
            </a:r>
            <a:r>
              <a:rPr sz="6700" dirty="0">
                <a:solidFill>
                  <a:srgbClr val="C14F1A"/>
                </a:solidFill>
                <a:latin typeface="Calibri"/>
                <a:cs typeface="Calibri"/>
              </a:rPr>
              <a:t>	</a:t>
            </a:r>
            <a:r>
              <a:rPr sz="6700" spc="-35" dirty="0">
                <a:solidFill>
                  <a:srgbClr val="BF4D18"/>
                </a:solidFill>
                <a:latin typeface="Calibri"/>
                <a:cs typeface="Calibri"/>
              </a:rPr>
              <a:t>2</a:t>
            </a:r>
            <a:r>
              <a:rPr lang="en-US" sz="6700" spc="-35" dirty="0">
                <a:solidFill>
                  <a:srgbClr val="BF4D18"/>
                </a:solidFill>
                <a:latin typeface="Calibri"/>
                <a:cs typeface="Calibri"/>
              </a:rPr>
              <a:t>0</a:t>
            </a:r>
            <a:endParaRPr sz="6700" dirty="0">
              <a:latin typeface="Calibri"/>
              <a:cs typeface="Calibri"/>
            </a:endParaRPr>
          </a:p>
          <a:p>
            <a:pPr marL="39370" marR="913765" indent="-20320">
              <a:lnSpc>
                <a:spcPts val="2700"/>
              </a:lnSpc>
              <a:spcBef>
                <a:spcPts val="450"/>
              </a:spcBef>
              <a:tabLst>
                <a:tab pos="1113155" algn="l"/>
                <a:tab pos="1407795" algn="l"/>
              </a:tabLst>
            </a:pPr>
            <a:r>
              <a:rPr sz="2400" spc="-10" dirty="0">
                <a:solidFill>
                  <a:srgbClr val="0C0C0C"/>
                </a:solidFill>
                <a:latin typeface="Calibri"/>
                <a:cs typeface="Calibri"/>
              </a:rPr>
              <a:t>Te</a:t>
            </a:r>
            <a:r>
              <a:rPr lang="en-US" sz="2400" spc="-10" dirty="0">
                <a:solidFill>
                  <a:srgbClr val="0C0C0C"/>
                </a:solidFill>
                <a:latin typeface="Calibri"/>
                <a:cs typeface="Calibri"/>
              </a:rPr>
              <a:t>m</a:t>
            </a:r>
            <a:r>
              <a:rPr sz="2400" spc="-10" dirty="0">
                <a:solidFill>
                  <a:srgbClr val="0C0C0C"/>
                </a:solidFill>
                <a:latin typeface="Calibri"/>
                <a:cs typeface="Calibri"/>
              </a:rPr>
              <a:t>pora</a:t>
            </a:r>
            <a:r>
              <a:rPr lang="en-US" sz="2400" spc="-10" dirty="0">
                <a:solidFill>
                  <a:srgbClr val="0C0C0C"/>
                </a:solidFill>
                <a:latin typeface="Calibri"/>
                <a:cs typeface="Calibri"/>
              </a:rPr>
              <a:t>l</a:t>
            </a:r>
            <a:r>
              <a:rPr sz="2400" dirty="0">
                <a:solidFill>
                  <a:srgbClr val="0C0C0C"/>
                </a:solidFill>
                <a:latin typeface="Calibri"/>
                <a:cs typeface="Calibri"/>
              </a:rPr>
              <a:t>	</a:t>
            </a:r>
            <a:r>
              <a:rPr sz="2400" spc="200" dirty="0">
                <a:solidFill>
                  <a:srgbClr val="161616"/>
                </a:solidFill>
                <a:latin typeface="Calibri"/>
                <a:cs typeface="Calibri"/>
              </a:rPr>
              <a:t>Sp</a:t>
            </a:r>
            <a:r>
              <a:rPr lang="en-US" sz="2400" spc="200" dirty="0">
                <a:solidFill>
                  <a:srgbClr val="161616"/>
                </a:solidFill>
                <a:latin typeface="Calibri"/>
                <a:cs typeface="Calibri"/>
              </a:rPr>
              <a:t>l</a:t>
            </a:r>
            <a:r>
              <a:rPr sz="2400" spc="200" dirty="0">
                <a:solidFill>
                  <a:srgbClr val="161616"/>
                </a:solidFill>
                <a:latin typeface="Calibri"/>
                <a:cs typeface="Calibri"/>
              </a:rPr>
              <a:t>it </a:t>
            </a:r>
            <a:r>
              <a:rPr sz="2400" spc="215" dirty="0">
                <a:solidFill>
                  <a:srgbClr val="0E0E0E"/>
                </a:solidFill>
                <a:latin typeface="Calibri"/>
                <a:cs typeface="Calibri"/>
              </a:rPr>
              <a:t>(Train</a:t>
            </a:r>
            <a:r>
              <a:rPr sz="2400" dirty="0">
                <a:solidFill>
                  <a:srgbClr val="0E0E0E"/>
                </a:solidFill>
                <a:latin typeface="Calibri"/>
                <a:cs typeface="Calibri"/>
              </a:rPr>
              <a:t>	</a:t>
            </a:r>
            <a:r>
              <a:rPr sz="2400" spc="20" dirty="0">
                <a:solidFill>
                  <a:srgbClr val="212121"/>
                </a:solidFill>
                <a:latin typeface="Calibri"/>
                <a:cs typeface="Calibri"/>
              </a:rPr>
              <a:t>/</a:t>
            </a:r>
            <a:r>
              <a:rPr sz="2400" dirty="0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sz="2400" spc="-48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2400" spc="185" dirty="0">
                <a:solidFill>
                  <a:srgbClr val="111111"/>
                </a:solidFill>
                <a:latin typeface="Calibri"/>
                <a:cs typeface="Calibri"/>
              </a:rPr>
              <a:t>Test)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5" name="object 15">
            <a:extLst>
              <a:ext uri="{FF2B5EF4-FFF2-40B4-BE49-F238E27FC236}">
                <a16:creationId xmlns:a16="http://schemas.microsoft.com/office/drawing/2014/main" id="{6D0C6B84-6E3D-D761-D7AC-9ABAA3C14483}"/>
              </a:ext>
            </a:extLst>
          </p:cNvPr>
          <p:cNvSpPr txBox="1"/>
          <p:nvPr/>
        </p:nvSpPr>
        <p:spPr>
          <a:xfrm>
            <a:off x="9456524" y="5924550"/>
            <a:ext cx="47250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20165" algn="l"/>
                <a:tab pos="2615565" algn="l"/>
                <a:tab pos="3923665" algn="l"/>
              </a:tabLst>
            </a:pPr>
            <a:r>
              <a:rPr sz="2500" spc="-60" dirty="0">
                <a:solidFill>
                  <a:srgbClr val="626262"/>
                </a:solidFill>
                <a:latin typeface="Calibri"/>
                <a:cs typeface="Calibri"/>
              </a:rPr>
              <a:t>23</a:t>
            </a:r>
            <a:r>
              <a:rPr sz="2500" spc="-240" dirty="0">
                <a:solidFill>
                  <a:srgbClr val="626262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676767"/>
                </a:solidFill>
                <a:latin typeface="Calibri"/>
                <a:cs typeface="Calibri"/>
              </a:rPr>
              <a:t>.</a:t>
            </a:r>
            <a:r>
              <a:rPr sz="2500" spc="-195" dirty="0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626262"/>
                </a:solidFill>
                <a:latin typeface="Calibri"/>
                <a:cs typeface="Calibri"/>
              </a:rPr>
              <a:t>12</a:t>
            </a:r>
            <a:r>
              <a:rPr sz="2500" dirty="0">
                <a:solidFill>
                  <a:srgbClr val="626262"/>
                </a:solidFill>
                <a:latin typeface="Calibri"/>
                <a:cs typeface="Calibri"/>
              </a:rPr>
              <a:t>	</a:t>
            </a:r>
            <a:r>
              <a:rPr sz="2500" spc="70" dirty="0">
                <a:solidFill>
                  <a:srgbClr val="5D5D5D"/>
                </a:solidFill>
                <a:latin typeface="Calibri"/>
                <a:cs typeface="Calibri"/>
              </a:rPr>
              <a:t>25.</a:t>
            </a:r>
            <a:r>
              <a:rPr sz="2500" spc="-225" dirty="0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lang="en-US" sz="2500" spc="-25" dirty="0">
                <a:solidFill>
                  <a:srgbClr val="626262"/>
                </a:solidFill>
                <a:latin typeface="Calibri"/>
                <a:cs typeface="Calibri"/>
              </a:rPr>
              <a:t>0</a:t>
            </a:r>
            <a:r>
              <a:rPr sz="2500" spc="-25" dirty="0">
                <a:solidFill>
                  <a:srgbClr val="626262"/>
                </a:solidFill>
                <a:latin typeface="Calibri"/>
                <a:cs typeface="Calibri"/>
              </a:rPr>
              <a:t>1</a:t>
            </a:r>
            <a:r>
              <a:rPr sz="2500" dirty="0">
                <a:solidFill>
                  <a:srgbClr val="626262"/>
                </a:solidFill>
                <a:latin typeface="Calibri"/>
                <a:cs typeface="Calibri"/>
              </a:rPr>
              <a:t>	25</a:t>
            </a:r>
            <a:r>
              <a:rPr sz="2500" spc="-120" dirty="0">
                <a:solidFill>
                  <a:srgbClr val="626262"/>
                </a:solidFill>
                <a:latin typeface="Calibri"/>
                <a:cs typeface="Calibri"/>
              </a:rPr>
              <a:t> </a:t>
            </a:r>
            <a:r>
              <a:rPr lang="en-US" sz="2500" spc="-175" dirty="0">
                <a:solidFill>
                  <a:srgbClr val="626262"/>
                </a:solidFill>
                <a:latin typeface="Calibri"/>
                <a:cs typeface="Calibri"/>
              </a:rPr>
              <a:t>.</a:t>
            </a:r>
            <a:r>
              <a:rPr lang="en-US" sz="2500" spc="-25" dirty="0">
                <a:solidFill>
                  <a:srgbClr val="646464"/>
                </a:solidFill>
                <a:latin typeface="Calibri"/>
                <a:cs typeface="Calibri"/>
              </a:rPr>
              <a:t>0</a:t>
            </a:r>
            <a:r>
              <a:rPr sz="2500" spc="-25" dirty="0">
                <a:solidFill>
                  <a:srgbClr val="646464"/>
                </a:solidFill>
                <a:latin typeface="Calibri"/>
                <a:cs typeface="Calibri"/>
              </a:rPr>
              <a:t>1</a:t>
            </a:r>
            <a:r>
              <a:rPr sz="2500" dirty="0">
                <a:solidFill>
                  <a:srgbClr val="646464"/>
                </a:solidFill>
                <a:latin typeface="Calibri"/>
                <a:cs typeface="Calibri"/>
              </a:rPr>
              <a:t>	</a:t>
            </a:r>
            <a:r>
              <a:rPr sz="2500" dirty="0">
                <a:solidFill>
                  <a:srgbClr val="5B5B5B"/>
                </a:solidFill>
                <a:latin typeface="Calibri"/>
                <a:cs typeface="Calibri"/>
              </a:rPr>
              <a:t>25</a:t>
            </a:r>
            <a:r>
              <a:rPr sz="2500" spc="-120" dirty="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lang="en-US" sz="2500" spc="-175" dirty="0">
                <a:solidFill>
                  <a:srgbClr val="646464"/>
                </a:solidFill>
                <a:latin typeface="Calibri"/>
                <a:cs typeface="Calibri"/>
              </a:rPr>
              <a:t>.0</a:t>
            </a:r>
            <a:r>
              <a:rPr sz="2500" spc="-65" dirty="0">
                <a:solidFill>
                  <a:srgbClr val="626262"/>
                </a:solidFill>
                <a:latin typeface="Calibri"/>
                <a:cs typeface="Calibri"/>
              </a:rPr>
              <a:t>9</a:t>
            </a:r>
            <a:endParaRPr sz="2500" dirty="0">
              <a:latin typeface="Calibri"/>
              <a:cs typeface="Calibri"/>
            </a:endParaRPr>
          </a:p>
        </p:txBody>
      </p:sp>
      <p:sp>
        <p:nvSpPr>
          <p:cNvPr id="36" name="object 16">
            <a:extLst>
              <a:ext uri="{FF2B5EF4-FFF2-40B4-BE49-F238E27FC236}">
                <a16:creationId xmlns:a16="http://schemas.microsoft.com/office/drawing/2014/main" id="{53EB6D01-FC0E-B6BB-3A51-F56787A27AD8}"/>
              </a:ext>
            </a:extLst>
          </p:cNvPr>
          <p:cNvSpPr txBox="1"/>
          <p:nvPr/>
        </p:nvSpPr>
        <p:spPr>
          <a:xfrm>
            <a:off x="9455868" y="6693958"/>
            <a:ext cx="814069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135" dirty="0">
                <a:solidFill>
                  <a:srgbClr val="646464"/>
                </a:solidFill>
                <a:latin typeface="Cambria"/>
                <a:cs typeface="Cambria"/>
              </a:rPr>
              <a:t>26</a:t>
            </a:r>
            <a:r>
              <a:rPr sz="2300" spc="5" dirty="0">
                <a:solidFill>
                  <a:srgbClr val="646464"/>
                </a:solidFill>
                <a:latin typeface="Cambria"/>
                <a:cs typeface="Cambria"/>
              </a:rPr>
              <a:t> </a:t>
            </a:r>
            <a:r>
              <a:rPr sz="2300" dirty="0">
                <a:solidFill>
                  <a:srgbClr val="6B6B6B"/>
                </a:solidFill>
                <a:latin typeface="Cambria"/>
                <a:cs typeface="Cambria"/>
              </a:rPr>
              <a:t>. </a:t>
            </a:r>
            <a:r>
              <a:rPr sz="2300" spc="-25" dirty="0">
                <a:solidFill>
                  <a:srgbClr val="5E5E5E"/>
                </a:solidFill>
                <a:latin typeface="Cambria"/>
                <a:cs typeface="Cambria"/>
              </a:rPr>
              <a:t>2</a:t>
            </a:r>
            <a:r>
              <a:rPr lang="en-US" sz="2300" spc="-25" dirty="0">
                <a:solidFill>
                  <a:srgbClr val="5E5E5E"/>
                </a:solidFill>
                <a:latin typeface="Cambria"/>
                <a:cs typeface="Cambria"/>
              </a:rPr>
              <a:t>0</a:t>
            </a:r>
            <a:endParaRPr sz="2300" dirty="0">
              <a:latin typeface="Cambria"/>
              <a:cs typeface="Cambria"/>
            </a:endParaRPr>
          </a:p>
        </p:txBody>
      </p:sp>
      <p:sp>
        <p:nvSpPr>
          <p:cNvPr id="37" name="object 17">
            <a:extLst>
              <a:ext uri="{FF2B5EF4-FFF2-40B4-BE49-F238E27FC236}">
                <a16:creationId xmlns:a16="http://schemas.microsoft.com/office/drawing/2014/main" id="{84D50066-105F-17FA-FA1F-5BF6686BBDA1}"/>
              </a:ext>
            </a:extLst>
          </p:cNvPr>
          <p:cNvSpPr txBox="1"/>
          <p:nvPr/>
        </p:nvSpPr>
        <p:spPr>
          <a:xfrm>
            <a:off x="10763968" y="6693958"/>
            <a:ext cx="798830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125" dirty="0">
                <a:solidFill>
                  <a:srgbClr val="666666"/>
                </a:solidFill>
                <a:latin typeface="Cambria"/>
                <a:cs typeface="Cambria"/>
              </a:rPr>
              <a:t>2</a:t>
            </a:r>
            <a:r>
              <a:rPr lang="en-US" sz="2300" spc="-125" dirty="0">
                <a:solidFill>
                  <a:srgbClr val="666666"/>
                </a:solidFill>
                <a:latin typeface="Cambria"/>
                <a:cs typeface="Cambria"/>
              </a:rPr>
              <a:t>4</a:t>
            </a:r>
            <a:r>
              <a:rPr sz="2300" dirty="0">
                <a:solidFill>
                  <a:srgbClr val="696969"/>
                </a:solidFill>
                <a:latin typeface="Cambria"/>
                <a:cs typeface="Cambria"/>
              </a:rPr>
              <a:t>.</a:t>
            </a:r>
            <a:r>
              <a:rPr sz="2300" spc="-125" dirty="0">
                <a:solidFill>
                  <a:srgbClr val="696969"/>
                </a:solidFill>
                <a:latin typeface="Cambria"/>
                <a:cs typeface="Cambria"/>
              </a:rPr>
              <a:t> </a:t>
            </a:r>
            <a:r>
              <a:rPr sz="2300" spc="-50" dirty="0">
                <a:solidFill>
                  <a:srgbClr val="6E6E6E"/>
                </a:solidFill>
                <a:latin typeface="Cambria"/>
                <a:cs typeface="Cambria"/>
              </a:rPr>
              <a:t>76</a:t>
            </a:r>
            <a:endParaRPr sz="2300" dirty="0">
              <a:latin typeface="Cambria"/>
              <a:cs typeface="Cambria"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3CBC98E7-6D34-976F-D9F2-AC3E5EA054D1}"/>
              </a:ext>
            </a:extLst>
          </p:cNvPr>
          <p:cNvSpPr txBox="1"/>
          <p:nvPr/>
        </p:nvSpPr>
        <p:spPr>
          <a:xfrm>
            <a:off x="12059368" y="6693958"/>
            <a:ext cx="814705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30" dirty="0">
                <a:solidFill>
                  <a:srgbClr val="676767"/>
                </a:solidFill>
                <a:latin typeface="Cambria"/>
                <a:cs typeface="Cambria"/>
              </a:rPr>
              <a:t>26</a:t>
            </a:r>
            <a:r>
              <a:rPr sz="2300" spc="-90" dirty="0">
                <a:solidFill>
                  <a:srgbClr val="676767"/>
                </a:solidFill>
                <a:latin typeface="Cambria"/>
                <a:cs typeface="Cambria"/>
              </a:rPr>
              <a:t> </a:t>
            </a:r>
            <a:r>
              <a:rPr sz="2300" spc="-40" dirty="0">
                <a:solidFill>
                  <a:srgbClr val="707070"/>
                </a:solidFill>
                <a:latin typeface="Cambria"/>
                <a:cs typeface="Cambria"/>
              </a:rPr>
              <a:t>.</a:t>
            </a:r>
            <a:r>
              <a:rPr sz="2300" spc="-95" dirty="0">
                <a:solidFill>
                  <a:srgbClr val="707070"/>
                </a:solidFill>
                <a:latin typeface="Cambria"/>
                <a:cs typeface="Cambria"/>
              </a:rPr>
              <a:t> </a:t>
            </a:r>
            <a:r>
              <a:rPr sz="2300" spc="-35" dirty="0">
                <a:solidFill>
                  <a:srgbClr val="676767"/>
                </a:solidFill>
                <a:latin typeface="Cambria"/>
                <a:cs typeface="Cambria"/>
              </a:rPr>
              <a:t>7</a:t>
            </a:r>
            <a:r>
              <a:rPr lang="en-US" sz="2300" spc="-35" dirty="0">
                <a:solidFill>
                  <a:srgbClr val="676767"/>
                </a:solidFill>
                <a:latin typeface="Cambria"/>
                <a:cs typeface="Cambria"/>
              </a:rPr>
              <a:t>0</a:t>
            </a:r>
            <a:endParaRPr sz="2300" dirty="0">
              <a:latin typeface="Cambria"/>
              <a:cs typeface="Cambria"/>
            </a:endParaRPr>
          </a:p>
        </p:txBody>
      </p:sp>
      <p:sp>
        <p:nvSpPr>
          <p:cNvPr id="39" name="object 19">
            <a:extLst>
              <a:ext uri="{FF2B5EF4-FFF2-40B4-BE49-F238E27FC236}">
                <a16:creationId xmlns:a16="http://schemas.microsoft.com/office/drawing/2014/main" id="{75669A90-F5D7-5137-5D04-0E39856BA88F}"/>
              </a:ext>
            </a:extLst>
          </p:cNvPr>
          <p:cNvSpPr txBox="1"/>
          <p:nvPr/>
        </p:nvSpPr>
        <p:spPr>
          <a:xfrm>
            <a:off x="13367473" y="6693958"/>
            <a:ext cx="814069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30" dirty="0">
                <a:solidFill>
                  <a:srgbClr val="666666"/>
                </a:solidFill>
                <a:latin typeface="Cambria"/>
                <a:cs typeface="Cambria"/>
              </a:rPr>
              <a:t>26</a:t>
            </a:r>
            <a:r>
              <a:rPr sz="2300" spc="-90" dirty="0">
                <a:solidFill>
                  <a:srgbClr val="666666"/>
                </a:solidFill>
                <a:latin typeface="Cambria"/>
                <a:cs typeface="Cambria"/>
              </a:rPr>
              <a:t> </a:t>
            </a:r>
            <a:r>
              <a:rPr sz="2300" spc="-40" dirty="0">
                <a:solidFill>
                  <a:srgbClr val="666666"/>
                </a:solidFill>
                <a:latin typeface="Cambria"/>
                <a:cs typeface="Cambria"/>
              </a:rPr>
              <a:t>.</a:t>
            </a:r>
            <a:r>
              <a:rPr sz="2300" spc="-95" dirty="0">
                <a:solidFill>
                  <a:srgbClr val="666666"/>
                </a:solidFill>
                <a:latin typeface="Cambria"/>
                <a:cs typeface="Cambria"/>
              </a:rPr>
              <a:t> </a:t>
            </a:r>
            <a:r>
              <a:rPr sz="2300" spc="-35" dirty="0">
                <a:solidFill>
                  <a:srgbClr val="707070"/>
                </a:solidFill>
                <a:latin typeface="Cambria"/>
                <a:cs typeface="Cambria"/>
              </a:rPr>
              <a:t>7</a:t>
            </a:r>
            <a:r>
              <a:rPr lang="en-US" sz="2300" spc="-35" dirty="0">
                <a:solidFill>
                  <a:srgbClr val="707070"/>
                </a:solidFill>
                <a:latin typeface="Cambria"/>
                <a:cs typeface="Cambria"/>
              </a:rPr>
              <a:t>5</a:t>
            </a:r>
            <a:endParaRPr sz="2300" dirty="0">
              <a:latin typeface="Cambria"/>
              <a:cs typeface="Cambria"/>
            </a:endParaRPr>
          </a:p>
        </p:txBody>
      </p:sp>
      <p:sp>
        <p:nvSpPr>
          <p:cNvPr id="40" name="object 20">
            <a:extLst>
              <a:ext uri="{FF2B5EF4-FFF2-40B4-BE49-F238E27FC236}">
                <a16:creationId xmlns:a16="http://schemas.microsoft.com/office/drawing/2014/main" id="{C5FDB012-AF98-1F14-BAE8-DDD2C682B663}"/>
              </a:ext>
            </a:extLst>
          </p:cNvPr>
          <p:cNvSpPr txBox="1"/>
          <p:nvPr/>
        </p:nvSpPr>
        <p:spPr>
          <a:xfrm>
            <a:off x="15482836" y="5930900"/>
            <a:ext cx="884380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626262"/>
                </a:solidFill>
                <a:latin typeface="Calibri"/>
                <a:cs typeface="Calibri"/>
              </a:rPr>
              <a:t>0.</a:t>
            </a:r>
            <a:r>
              <a:rPr sz="2500" spc="25" dirty="0">
                <a:solidFill>
                  <a:srgbClr val="626262"/>
                </a:solidFill>
                <a:latin typeface="Calibri"/>
                <a:cs typeface="Calibri"/>
              </a:rPr>
              <a:t> </a:t>
            </a:r>
            <a:r>
              <a:rPr sz="2500" spc="-220" dirty="0">
                <a:solidFill>
                  <a:srgbClr val="5E5E5E"/>
                </a:solidFill>
                <a:latin typeface="Calibri"/>
                <a:cs typeface="Calibri"/>
              </a:rPr>
              <a:t>01</a:t>
            </a:r>
            <a:r>
              <a:rPr lang="en-US" sz="2500" spc="-220" dirty="0">
                <a:solidFill>
                  <a:srgbClr val="5E5E5E"/>
                </a:solidFill>
                <a:latin typeface="Calibri"/>
                <a:cs typeface="Calibri"/>
              </a:rPr>
              <a:t>%</a:t>
            </a:r>
            <a:endParaRPr sz="25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object 2">
            <a:extLst>
              <a:ext uri="{FF2B5EF4-FFF2-40B4-BE49-F238E27FC236}">
                <a16:creationId xmlns:a16="http://schemas.microsoft.com/office/drawing/2014/main" id="{9168742D-A31E-0CB3-8E0C-42D2E131E6A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9000" y="3022600"/>
            <a:ext cx="15697200" cy="4508500"/>
          </a:xfrm>
          <a:prstGeom prst="rect">
            <a:avLst/>
          </a:prstGeom>
        </p:spPr>
      </p:pic>
      <p:sp>
        <p:nvSpPr>
          <p:cNvPr id="74" name="object 3">
            <a:extLst>
              <a:ext uri="{FF2B5EF4-FFF2-40B4-BE49-F238E27FC236}">
                <a16:creationId xmlns:a16="http://schemas.microsoft.com/office/drawing/2014/main" id="{3805D8C0-C3EB-E17C-B39B-FFB1827FFEAD}"/>
              </a:ext>
            </a:extLst>
          </p:cNvPr>
          <p:cNvSpPr txBox="1">
            <a:spLocks/>
          </p:cNvSpPr>
          <p:nvPr/>
        </p:nvSpPr>
        <p:spPr>
          <a:xfrm>
            <a:off x="837359" y="642761"/>
            <a:ext cx="15800480" cy="999489"/>
          </a:xfrm>
          <a:prstGeom prst="rect">
            <a:avLst/>
          </a:prstGeom>
        </p:spPr>
        <p:txBody>
          <a:bodyPr vert="horz" wrap="square" lIns="0" tIns="80786" rIns="0" bIns="0" rtlCol="0">
            <a:spAutoFit/>
          </a:bodyPr>
          <a:lstStyle>
            <a:lvl1pPr>
              <a:defRPr sz="6350" b="1" i="0">
                <a:solidFill>
                  <a:srgbClr val="0A0A0A"/>
                </a:solidFill>
                <a:latin typeface="Arial"/>
                <a:ea typeface="+mj-ea"/>
                <a:cs typeface="Arial"/>
              </a:defRPr>
            </a:lvl1pPr>
          </a:lstStyle>
          <a:p>
            <a:pPr marL="55244">
              <a:spcBef>
                <a:spcPts val="100"/>
              </a:spcBef>
            </a:pPr>
            <a:r>
              <a:rPr lang="en-US" sz="5900" spc="-170">
                <a:solidFill>
                  <a:srgbClr val="0A263D"/>
                </a:solidFill>
                <a:latin typeface="Arial MT"/>
                <a:cs typeface="Arial MT"/>
              </a:rPr>
              <a:t>End-</a:t>
            </a:r>
            <a:r>
              <a:rPr lang="en-US" sz="5900" spc="-125">
                <a:solidFill>
                  <a:srgbClr val="0A263D"/>
                </a:solidFill>
                <a:latin typeface="Arial MT"/>
                <a:cs typeface="Arial MT"/>
              </a:rPr>
              <a:t>to-</a:t>
            </a:r>
            <a:r>
              <a:rPr lang="en-US" sz="5900" spc="-70">
                <a:solidFill>
                  <a:srgbClr val="0A263D"/>
                </a:solidFill>
                <a:latin typeface="Arial MT"/>
                <a:cs typeface="Arial MT"/>
              </a:rPr>
              <a:t>End</a:t>
            </a:r>
            <a:r>
              <a:rPr lang="en-US" sz="5900" spc="-260">
                <a:solidFill>
                  <a:srgbClr val="0A263D"/>
                </a:solidFill>
                <a:latin typeface="Arial MT"/>
                <a:cs typeface="Arial MT"/>
              </a:rPr>
              <a:t> </a:t>
            </a:r>
            <a:r>
              <a:rPr lang="en-US" sz="5900" spc="-130">
                <a:solidFill>
                  <a:srgbClr val="07213F"/>
                </a:solidFill>
                <a:latin typeface="Arial MT"/>
                <a:cs typeface="Arial MT"/>
              </a:rPr>
              <a:t>System</a:t>
            </a:r>
            <a:r>
              <a:rPr lang="en-US" sz="5900" spc="-280">
                <a:solidFill>
                  <a:srgbClr val="07213F"/>
                </a:solidFill>
                <a:latin typeface="Arial MT"/>
                <a:cs typeface="Arial MT"/>
              </a:rPr>
              <a:t> </a:t>
            </a:r>
            <a:r>
              <a:rPr lang="en-US" sz="5900" spc="-10">
                <a:solidFill>
                  <a:srgbClr val="0C233D"/>
                </a:solidFill>
                <a:latin typeface="Arial MT"/>
                <a:cs typeface="Arial MT"/>
              </a:rPr>
              <a:t>Architecture</a:t>
            </a:r>
            <a:endParaRPr lang="en-US" sz="5900" dirty="0">
              <a:latin typeface="Arial MT"/>
              <a:cs typeface="Arial MT"/>
            </a:endParaRPr>
          </a:p>
        </p:txBody>
      </p:sp>
      <p:sp>
        <p:nvSpPr>
          <p:cNvPr id="75" name="object 4">
            <a:extLst>
              <a:ext uri="{FF2B5EF4-FFF2-40B4-BE49-F238E27FC236}">
                <a16:creationId xmlns:a16="http://schemas.microsoft.com/office/drawing/2014/main" id="{6D878E32-DCA6-4A13-CB90-009687B5EB3F}"/>
              </a:ext>
            </a:extLst>
          </p:cNvPr>
          <p:cNvSpPr txBox="1"/>
          <p:nvPr/>
        </p:nvSpPr>
        <p:spPr>
          <a:xfrm>
            <a:off x="1649832" y="4466519"/>
            <a:ext cx="549275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-25" dirty="0">
                <a:solidFill>
                  <a:srgbClr val="777777"/>
                </a:solidFill>
                <a:latin typeface="Consolas"/>
                <a:cs typeface="Consolas"/>
              </a:rPr>
              <a:t>CSV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76" name="object 5">
            <a:extLst>
              <a:ext uri="{FF2B5EF4-FFF2-40B4-BE49-F238E27FC236}">
                <a16:creationId xmlns:a16="http://schemas.microsoft.com/office/drawing/2014/main" id="{5BE8445A-096F-A596-E9FE-CAE1B19BFB28}"/>
              </a:ext>
            </a:extLst>
          </p:cNvPr>
          <p:cNvSpPr txBox="1"/>
          <p:nvPr/>
        </p:nvSpPr>
        <p:spPr>
          <a:xfrm>
            <a:off x="1181951" y="5932311"/>
            <a:ext cx="2187925" cy="7889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ts val="2985"/>
              </a:lnSpc>
              <a:spcBef>
                <a:spcPts val="135"/>
              </a:spcBef>
              <a:tabLst>
                <a:tab pos="813435" algn="l"/>
                <a:tab pos="1332865" algn="l"/>
              </a:tabLst>
            </a:pPr>
            <a:r>
              <a:rPr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	17	Bank</a:t>
            </a:r>
          </a:p>
          <a:p>
            <a:pPr marR="32384" algn="ctr">
              <a:lnSpc>
                <a:spcPts val="3165"/>
              </a:lnSpc>
            </a:pPr>
            <a:r>
              <a:rPr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Datasets.</a:t>
            </a:r>
          </a:p>
        </p:txBody>
      </p:sp>
      <p:sp>
        <p:nvSpPr>
          <p:cNvPr id="77" name="object 6">
            <a:extLst>
              <a:ext uri="{FF2B5EF4-FFF2-40B4-BE49-F238E27FC236}">
                <a16:creationId xmlns:a16="http://schemas.microsoft.com/office/drawing/2014/main" id="{104F7DE6-EC52-ECF8-90ED-B596109F76F4}"/>
              </a:ext>
            </a:extLst>
          </p:cNvPr>
          <p:cNvSpPr txBox="1"/>
          <p:nvPr/>
        </p:nvSpPr>
        <p:spPr>
          <a:xfrm>
            <a:off x="4457079" y="5932311"/>
            <a:ext cx="2207254" cy="386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Feature Eng.</a:t>
            </a:r>
          </a:p>
        </p:txBody>
      </p:sp>
      <p:sp>
        <p:nvSpPr>
          <p:cNvPr id="78" name="object 7">
            <a:extLst>
              <a:ext uri="{FF2B5EF4-FFF2-40B4-BE49-F238E27FC236}">
                <a16:creationId xmlns:a16="http://schemas.microsoft.com/office/drawing/2014/main" id="{B00F6124-32E0-EAF8-5ABE-C5110E4A67DA}"/>
              </a:ext>
            </a:extLst>
          </p:cNvPr>
          <p:cNvSpPr txBox="1"/>
          <p:nvPr/>
        </p:nvSpPr>
        <p:spPr>
          <a:xfrm>
            <a:off x="4414372" y="6318955"/>
            <a:ext cx="2207254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</a:t>
            </a:r>
            <a:r>
              <a:rPr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Sequence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Gen(60 Days)</a:t>
            </a:r>
            <a:endParaRPr sz="24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9" name="object 10">
            <a:extLst>
              <a:ext uri="{FF2B5EF4-FFF2-40B4-BE49-F238E27FC236}">
                <a16:creationId xmlns:a16="http://schemas.microsoft.com/office/drawing/2014/main" id="{F7B00CA4-5F0B-E4FF-648D-640B40424B46}"/>
              </a:ext>
            </a:extLst>
          </p:cNvPr>
          <p:cNvSpPr txBox="1"/>
          <p:nvPr/>
        </p:nvSpPr>
        <p:spPr>
          <a:xfrm>
            <a:off x="7555493" y="5947480"/>
            <a:ext cx="2353310" cy="113646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algn="ctr">
              <a:lnSpc>
                <a:spcPts val="2905"/>
              </a:lnSpc>
              <a:spcBef>
                <a:spcPts val="120"/>
              </a:spcBef>
            </a:pPr>
            <a:r>
              <a:rPr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Temporal Split</a:t>
            </a:r>
          </a:p>
          <a:p>
            <a:pPr marR="40640" algn="ctr">
              <a:lnSpc>
                <a:spcPts val="3145"/>
              </a:lnSpc>
              <a:tabLst>
                <a:tab pos="339725" algn="l"/>
              </a:tabLst>
            </a:pPr>
            <a:r>
              <a:rPr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	Scaling</a:t>
            </a:r>
          </a:p>
        </p:txBody>
      </p:sp>
      <p:sp>
        <p:nvSpPr>
          <p:cNvPr id="80" name="object 11">
            <a:extLst>
              <a:ext uri="{FF2B5EF4-FFF2-40B4-BE49-F238E27FC236}">
                <a16:creationId xmlns:a16="http://schemas.microsoft.com/office/drawing/2014/main" id="{C9E6AB04-1859-63BA-380F-DF7103EA4AE3}"/>
              </a:ext>
            </a:extLst>
          </p:cNvPr>
          <p:cNvSpPr txBox="1"/>
          <p:nvPr/>
        </p:nvSpPr>
        <p:spPr>
          <a:xfrm>
            <a:off x="10897365" y="5956300"/>
            <a:ext cx="2214245" cy="1137747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86360" algn="just">
              <a:lnSpc>
                <a:spcPts val="2900"/>
              </a:lnSpc>
              <a:spcBef>
                <a:spcPts val="280"/>
              </a:spcBef>
            </a:pPr>
            <a:r>
              <a:rPr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Embedd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ngs + 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LSTM / CNN / Transformer]</a:t>
            </a:r>
          </a:p>
        </p:txBody>
      </p:sp>
      <p:sp>
        <p:nvSpPr>
          <p:cNvPr id="81" name="object 12">
            <a:extLst>
              <a:ext uri="{FF2B5EF4-FFF2-40B4-BE49-F238E27FC236}">
                <a16:creationId xmlns:a16="http://schemas.microsoft.com/office/drawing/2014/main" id="{378745DC-15A1-DA79-1E1C-EFB5791F33C6}"/>
              </a:ext>
            </a:extLst>
          </p:cNvPr>
          <p:cNvSpPr txBox="1"/>
          <p:nvPr/>
        </p:nvSpPr>
        <p:spPr>
          <a:xfrm>
            <a:off x="14119783" y="5956300"/>
            <a:ext cx="2232660" cy="1137747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492759">
              <a:lnSpc>
                <a:spcPts val="2900"/>
              </a:lnSpc>
              <a:spcBef>
                <a:spcPts val="280"/>
              </a:spcBef>
            </a:pP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sz="24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ext-Day Closing Price (Regression)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19634" y="3702446"/>
            <a:ext cx="7693098" cy="168513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91167" y="342121"/>
            <a:ext cx="13259115" cy="87844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600" b="0" dirty="0">
                <a:solidFill>
                  <a:srgbClr val="050505"/>
                </a:solidFill>
                <a:latin typeface="Arial"/>
                <a:cs typeface="Arial"/>
              </a:rPr>
              <a:t>Implementation </a:t>
            </a:r>
            <a:r>
              <a:rPr sz="5400" b="0" dirty="0">
                <a:solidFill>
                  <a:srgbClr val="050505"/>
                </a:solidFill>
                <a:latin typeface="Arial"/>
                <a:cs typeface="Arial"/>
              </a:rPr>
              <a:t>&amp; </a:t>
            </a:r>
            <a:r>
              <a:rPr sz="5600" b="0" dirty="0">
                <a:solidFill>
                  <a:srgbClr val="050505"/>
                </a:solidFill>
                <a:latin typeface="Arial"/>
                <a:cs typeface="Arial"/>
              </a:rPr>
              <a:t>Training Configuration</a:t>
            </a:r>
            <a:endParaRPr sz="5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3844" y="2872713"/>
            <a:ext cx="8279807" cy="5318764"/>
          </a:xfrm>
          <a:prstGeom prst="rect">
            <a:avLst/>
          </a:prstGeom>
        </p:spPr>
        <p:txBody>
          <a:bodyPr vert="horz" wrap="square" lIns="0" tIns="270510" rIns="0" bIns="0" rtlCol="0">
            <a:spAutoFit/>
          </a:bodyPr>
          <a:lstStyle/>
          <a:p>
            <a:pPr marL="702310" indent="-689610">
              <a:lnSpc>
                <a:spcPct val="100000"/>
              </a:lnSpc>
              <a:spcBef>
                <a:spcPts val="2130"/>
              </a:spcBef>
              <a:buFont typeface="Courier New"/>
              <a:buChar char="•"/>
              <a:tabLst>
                <a:tab pos="702310" algn="l"/>
              </a:tabLst>
            </a:pPr>
            <a:r>
              <a:rPr sz="3200" b="1" spc="-150" dirty="0">
                <a:solidFill>
                  <a:srgbClr val="050505"/>
                </a:solidFill>
                <a:latin typeface="Courier New"/>
                <a:cs typeface="Courier New"/>
              </a:rPr>
              <a:t>Objective:</a:t>
            </a:r>
            <a:r>
              <a:rPr lang="en-US" sz="3200" b="1" spc="-150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3200" b="1" spc="-150" dirty="0">
                <a:solidFill>
                  <a:srgbClr val="050505"/>
                </a:solidFill>
                <a:latin typeface="Courier New"/>
                <a:cs typeface="Courier New"/>
              </a:rPr>
              <a:t>Regression</a:t>
            </a:r>
            <a:endParaRPr lang="en-US" sz="3200" b="1" spc="-150" dirty="0">
              <a:solidFill>
                <a:srgbClr val="050505"/>
              </a:solidFill>
              <a:latin typeface="Courier New"/>
              <a:cs typeface="Courier New"/>
            </a:endParaRPr>
          </a:p>
          <a:p>
            <a:pPr marL="702310" indent="-689610">
              <a:lnSpc>
                <a:spcPct val="100000"/>
              </a:lnSpc>
              <a:spcBef>
                <a:spcPts val="2130"/>
              </a:spcBef>
              <a:buFont typeface="Courier New"/>
              <a:buChar char="•"/>
              <a:tabLst>
                <a:tab pos="702310" algn="l"/>
              </a:tabLst>
            </a:pPr>
            <a:r>
              <a:rPr lang="en-NP" sz="3200" b="1" spc="-150" dirty="0">
                <a:solidFill>
                  <a:srgbClr val="050505"/>
                </a:solidFill>
                <a:latin typeface="Courier New"/>
                <a:cs typeface="Courier New"/>
              </a:rPr>
              <a:t>Loss: MSE</a:t>
            </a:r>
            <a:endParaRPr sz="3200" spc="-150" dirty="0">
              <a:latin typeface="Courier New"/>
              <a:cs typeface="Courier New"/>
            </a:endParaRPr>
          </a:p>
          <a:p>
            <a:pPr marL="702310" indent="-689610">
              <a:lnSpc>
                <a:spcPct val="100000"/>
              </a:lnSpc>
              <a:spcBef>
                <a:spcPts val="2035"/>
              </a:spcBef>
              <a:buFont typeface="Courier New"/>
              <a:buChar char="•"/>
              <a:tabLst>
                <a:tab pos="702310" algn="l"/>
              </a:tabLst>
            </a:pPr>
            <a:r>
              <a:rPr sz="3200" b="1" spc="-150" dirty="0">
                <a:solidFill>
                  <a:srgbClr val="050505"/>
                </a:solidFill>
                <a:latin typeface="Courier New"/>
                <a:cs typeface="Courier New"/>
              </a:rPr>
              <a:t>Optimizer:Adam </a:t>
            </a:r>
            <a:r>
              <a:rPr sz="3200" spc="-150" dirty="0">
                <a:solidFill>
                  <a:srgbClr val="050505"/>
                </a:solidFill>
                <a:latin typeface="Courier New"/>
                <a:cs typeface="Courier New"/>
              </a:rPr>
              <a:t>(LR=0.001)</a:t>
            </a:r>
            <a:endParaRPr sz="3200" spc="-150" dirty="0">
              <a:latin typeface="Courier New"/>
              <a:cs typeface="Courier New"/>
            </a:endParaRPr>
          </a:p>
          <a:p>
            <a:pPr marL="680720" indent="-668020">
              <a:lnSpc>
                <a:spcPct val="100000"/>
              </a:lnSpc>
              <a:spcBef>
                <a:spcPts val="2035"/>
              </a:spcBef>
              <a:buFont typeface="Courier New"/>
              <a:buChar char="•"/>
              <a:tabLst>
                <a:tab pos="680720" algn="l"/>
              </a:tabLst>
            </a:pPr>
            <a:r>
              <a:rPr sz="3200" b="1" spc="-150" dirty="0">
                <a:solidFill>
                  <a:srgbClr val="050505"/>
                </a:solidFill>
                <a:latin typeface="Courier New"/>
                <a:cs typeface="Courier New"/>
              </a:rPr>
              <a:t>Scheduler: </a:t>
            </a:r>
            <a:r>
              <a:rPr sz="3200" spc="-150" dirty="0">
                <a:solidFill>
                  <a:srgbClr val="050505"/>
                </a:solidFill>
                <a:latin typeface="Courier New"/>
                <a:cs typeface="Courier New"/>
              </a:rPr>
              <a:t>ReduceLROnPlateau</a:t>
            </a:r>
            <a:endParaRPr sz="3200" spc="-150" dirty="0">
              <a:latin typeface="Courier New"/>
              <a:cs typeface="Courier New"/>
            </a:endParaRPr>
          </a:p>
          <a:p>
            <a:pPr marL="612140" marR="2205355" indent="-600075">
              <a:lnSpc>
                <a:spcPts val="4320"/>
              </a:lnSpc>
              <a:spcBef>
                <a:spcPts val="2580"/>
              </a:spcBef>
              <a:buChar char="•"/>
              <a:tabLst>
                <a:tab pos="612140" algn="l"/>
                <a:tab pos="681355" algn="l"/>
              </a:tabLst>
            </a:pPr>
            <a:r>
              <a:rPr sz="3200" spc="-150" dirty="0">
                <a:solidFill>
                  <a:srgbClr val="050505"/>
                </a:solidFill>
                <a:latin typeface="Courier New"/>
                <a:cs typeface="Courier New"/>
              </a:rPr>
              <a:t>	</a:t>
            </a:r>
            <a:r>
              <a:rPr sz="3200" b="1" spc="-150" dirty="0">
                <a:solidFill>
                  <a:srgbClr val="050505"/>
                </a:solidFill>
                <a:latin typeface="Courier New"/>
                <a:cs typeface="Courier New"/>
              </a:rPr>
              <a:t>Safety: </a:t>
            </a:r>
            <a:r>
              <a:rPr sz="3200" spc="-150" dirty="0">
                <a:solidFill>
                  <a:srgbClr val="050505"/>
                </a:solidFill>
                <a:latin typeface="Courier New"/>
                <a:cs typeface="Courier New"/>
              </a:rPr>
              <a:t>Early</a:t>
            </a:r>
            <a:r>
              <a:rPr lang="en-US" sz="3200" spc="-150" dirty="0">
                <a:solidFill>
                  <a:srgbClr val="050505"/>
                </a:solidFill>
                <a:latin typeface="Courier New"/>
                <a:cs typeface="Courier New"/>
              </a:rPr>
              <a:t> </a:t>
            </a:r>
            <a:r>
              <a:rPr sz="3200" spc="-150" dirty="0">
                <a:solidFill>
                  <a:srgbClr val="050505"/>
                </a:solidFill>
                <a:latin typeface="Courier New"/>
                <a:cs typeface="Courier New"/>
              </a:rPr>
              <a:t>Stopping </a:t>
            </a:r>
            <a:r>
              <a:rPr lang="en-US" sz="3200" spc="-150" dirty="0">
                <a:solidFill>
                  <a:srgbClr val="050505"/>
                </a:solidFill>
                <a:latin typeface="Courier New"/>
                <a:cs typeface="Courier New"/>
              </a:rPr>
              <a:t>(</a:t>
            </a:r>
            <a:r>
              <a:rPr sz="3200" spc="-150" dirty="0">
                <a:solidFill>
                  <a:srgbClr val="050505"/>
                </a:solidFill>
                <a:latin typeface="Courier New"/>
                <a:cs typeface="Courier New"/>
              </a:rPr>
              <a:t>Patience=15)</a:t>
            </a:r>
            <a:endParaRPr sz="3200" spc="-150" dirty="0">
              <a:latin typeface="Courier New"/>
              <a:cs typeface="Courier New"/>
            </a:endParaRPr>
          </a:p>
          <a:p>
            <a:pPr marL="12065" marR="1325245">
              <a:lnSpc>
                <a:spcPts val="4320"/>
              </a:lnSpc>
              <a:spcBef>
                <a:spcPts val="2520"/>
              </a:spcBef>
              <a:tabLst>
                <a:tab pos="612140" algn="l"/>
                <a:tab pos="695325" algn="l"/>
              </a:tabLst>
            </a:pPr>
            <a:endParaRPr sz="3200" spc="-150" dirty="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3245" y="1411164"/>
            <a:ext cx="13937615" cy="738663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1019"/>
              </a:spcBef>
              <a:tabLst>
                <a:tab pos="8577580" algn="l"/>
              </a:tabLst>
            </a:pPr>
            <a:r>
              <a:rPr sz="3950" b="1" spc="-150" dirty="0">
                <a:solidFill>
                  <a:srgbClr val="050505"/>
                </a:solidFill>
                <a:latin typeface="Arial"/>
                <a:cs typeface="Arial"/>
              </a:rPr>
              <a:t>Configuration Specs	Temporal Split Strategy</a:t>
            </a:r>
            <a:endParaRPr sz="3950" spc="-15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25652" y="5221684"/>
            <a:ext cx="2293620" cy="112712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algn="ctr">
              <a:lnSpc>
                <a:spcPts val="2950"/>
              </a:lnSpc>
              <a:spcBef>
                <a:spcPts val="115"/>
              </a:spcBef>
            </a:pPr>
            <a:r>
              <a:rPr sz="2700" b="1" spc="-150" dirty="0">
                <a:solidFill>
                  <a:srgbClr val="050505"/>
                </a:solidFill>
                <a:latin typeface="Times New Roman"/>
                <a:cs typeface="Times New Roman"/>
              </a:rPr>
              <a:t>Training Set</a:t>
            </a:r>
            <a:endParaRPr sz="2700" spc="-150">
              <a:latin typeface="Times New Roman"/>
              <a:cs typeface="Times New Roman"/>
            </a:endParaRPr>
          </a:p>
          <a:p>
            <a:pPr marL="9525" algn="ctr">
              <a:lnSpc>
                <a:spcPts val="2710"/>
              </a:lnSpc>
            </a:pPr>
            <a:r>
              <a:rPr sz="2650" spc="-150" dirty="0">
                <a:solidFill>
                  <a:srgbClr val="1C1C1C"/>
                </a:solidFill>
                <a:latin typeface="Times New Roman"/>
                <a:cs typeface="Times New Roman"/>
              </a:rPr>
              <a:t>(Pre</a:t>
            </a:r>
            <a:r>
              <a:rPr sz="2650" spc="-150" dirty="0">
                <a:solidFill>
                  <a:srgbClr val="343434"/>
                </a:solidFill>
                <a:latin typeface="Times New Roman"/>
                <a:cs typeface="Times New Roman"/>
              </a:rPr>
              <a:t>-</a:t>
            </a:r>
            <a:r>
              <a:rPr sz="2650" spc="-150" dirty="0">
                <a:solidFill>
                  <a:srgbClr val="1C1C1C"/>
                </a:solidFill>
                <a:latin typeface="Times New Roman"/>
                <a:cs typeface="Times New Roman"/>
              </a:rPr>
              <a:t>Sept 2022)</a:t>
            </a:r>
            <a:endParaRPr sz="2650" spc="-150">
              <a:latin typeface="Times New Roman"/>
              <a:cs typeface="Times New Roman"/>
            </a:endParaRPr>
          </a:p>
          <a:p>
            <a:pPr algn="ctr">
              <a:lnSpc>
                <a:spcPts val="2995"/>
              </a:lnSpc>
            </a:pPr>
            <a:r>
              <a:rPr sz="2650" spc="-150" dirty="0">
                <a:solidFill>
                  <a:srgbClr val="1C1C1C"/>
                </a:solidFill>
                <a:latin typeface="Times New Roman"/>
                <a:cs typeface="Times New Roman"/>
              </a:rPr>
              <a:t>39,632 sequences</a:t>
            </a:r>
            <a:endParaRPr sz="2650" spc="-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42567" y="3211016"/>
            <a:ext cx="1326515" cy="4318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spc="-150" dirty="0">
                <a:solidFill>
                  <a:srgbClr val="1C1C1C"/>
                </a:solidFill>
                <a:latin typeface="Times New Roman"/>
                <a:cs typeface="Times New Roman"/>
              </a:rPr>
              <a:t>Sept2022</a:t>
            </a:r>
            <a:endParaRPr sz="2650" spc="-15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672030" y="5566370"/>
            <a:ext cx="2240280" cy="112712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marR="5080" indent="574040">
              <a:lnSpc>
                <a:spcPct val="85200"/>
              </a:lnSpc>
              <a:spcBef>
                <a:spcPts val="590"/>
              </a:spcBef>
            </a:pPr>
            <a:r>
              <a:rPr sz="2700" b="1" spc="-150" dirty="0">
                <a:solidFill>
                  <a:srgbClr val="050505"/>
                </a:solidFill>
                <a:latin typeface="Times New Roman"/>
                <a:cs typeface="Times New Roman"/>
              </a:rPr>
              <a:t>Test Set </a:t>
            </a:r>
            <a:r>
              <a:rPr sz="2650" spc="-150" dirty="0">
                <a:solidFill>
                  <a:srgbClr val="1C1C1C"/>
                </a:solidFill>
                <a:latin typeface="Times New Roman"/>
                <a:cs typeface="Times New Roman"/>
              </a:rPr>
              <a:t>(Post</a:t>
            </a:r>
            <a:r>
              <a:rPr sz="2650" spc="-150" dirty="0">
                <a:solidFill>
                  <a:srgbClr val="343434"/>
                </a:solidFill>
                <a:latin typeface="Times New Roman"/>
                <a:cs typeface="Times New Roman"/>
              </a:rPr>
              <a:t>-</a:t>
            </a:r>
            <a:r>
              <a:rPr sz="2650" spc="-150" dirty="0">
                <a:solidFill>
                  <a:srgbClr val="1C1C1C"/>
                </a:solidFill>
                <a:latin typeface="Times New Roman"/>
                <a:cs typeface="Times New Roman"/>
              </a:rPr>
              <a:t>Sept 2022) </a:t>
            </a:r>
            <a:r>
              <a:rPr sz="2650" spc="-150" dirty="0">
                <a:solidFill>
                  <a:srgbClr val="050505"/>
                </a:solidFill>
                <a:latin typeface="Times New Roman"/>
                <a:cs typeface="Times New Roman"/>
              </a:rPr>
              <a:t>12</a:t>
            </a:r>
            <a:r>
              <a:rPr sz="2650" spc="-150" dirty="0">
                <a:solidFill>
                  <a:srgbClr val="343434"/>
                </a:solidFill>
                <a:latin typeface="Times New Roman"/>
                <a:cs typeface="Times New Roman"/>
              </a:rPr>
              <a:t>,</a:t>
            </a:r>
            <a:r>
              <a:rPr sz="2650" spc="-150" dirty="0">
                <a:solidFill>
                  <a:srgbClr val="050505"/>
                </a:solidFill>
                <a:latin typeface="Times New Roman"/>
                <a:cs typeface="Times New Roman"/>
              </a:rPr>
              <a:t>411</a:t>
            </a:r>
            <a:r>
              <a:rPr sz="2650" spc="-150" dirty="0">
                <a:solidFill>
                  <a:srgbClr val="1C1C1C"/>
                </a:solidFill>
                <a:latin typeface="Times New Roman"/>
                <a:cs typeface="Times New Roman"/>
              </a:rPr>
              <a:t>sequences</a:t>
            </a:r>
            <a:endParaRPr sz="2650" spc="-1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60524" y="6988651"/>
            <a:ext cx="7525384" cy="100901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5875" marR="5080" indent="-3810">
              <a:lnSpc>
                <a:spcPts val="3520"/>
              </a:lnSpc>
              <a:spcBef>
                <a:spcPts val="800"/>
              </a:spcBef>
            </a:pPr>
            <a:r>
              <a:rPr sz="3200" spc="-150" dirty="0">
                <a:solidFill>
                  <a:srgbClr val="050505"/>
                </a:solidFill>
                <a:latin typeface="Times New Roman"/>
                <a:cs typeface="Times New Roman"/>
              </a:rPr>
              <a:t>Strict temporal splitting prevents look-ahead bias and simulates real-world forecasting.</a:t>
            </a:r>
            <a:endParaRPr sz="3200" spc="-150" dirty="0">
              <a:latin typeface="Times New Roman"/>
              <a:cs typeface="Times New Roman"/>
            </a:endParaRPr>
          </a:p>
        </p:txBody>
      </p:sp>
      <p:pic>
        <p:nvPicPr>
          <p:cNvPr id="25" name="object 2">
            <a:extLst>
              <a:ext uri="{FF2B5EF4-FFF2-40B4-BE49-F238E27FC236}">
                <a16:creationId xmlns:a16="http://schemas.microsoft.com/office/drawing/2014/main" id="{D04B8F63-CCAF-6817-DD40-59CCDE5DA44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9454" y="7882020"/>
            <a:ext cx="4330700" cy="241300"/>
          </a:xfrm>
          <a:prstGeom prst="rect">
            <a:avLst/>
          </a:prstGeom>
        </p:spPr>
      </p:pic>
      <p:sp>
        <p:nvSpPr>
          <p:cNvPr id="26" name="object 3">
            <a:extLst>
              <a:ext uri="{FF2B5EF4-FFF2-40B4-BE49-F238E27FC236}">
                <a16:creationId xmlns:a16="http://schemas.microsoft.com/office/drawing/2014/main" id="{C3E401BE-EBDC-D407-6018-95C1FECA3A5A}"/>
              </a:ext>
            </a:extLst>
          </p:cNvPr>
          <p:cNvSpPr/>
          <p:nvPr/>
        </p:nvSpPr>
        <p:spPr>
          <a:xfrm>
            <a:off x="890254" y="9213403"/>
            <a:ext cx="4271645" cy="0"/>
          </a:xfrm>
          <a:custGeom>
            <a:avLst/>
            <a:gdLst/>
            <a:ahLst/>
            <a:cxnLst/>
            <a:rect l="l" t="t" r="r" b="b"/>
            <a:pathLst>
              <a:path w="4271644">
                <a:moveTo>
                  <a:pt x="0" y="0"/>
                </a:moveTo>
                <a:lnTo>
                  <a:pt x="42714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726C146C-D9BB-9D0E-609B-88EB93ADCC4C}"/>
              </a:ext>
            </a:extLst>
          </p:cNvPr>
          <p:cNvSpPr/>
          <p:nvPr/>
        </p:nvSpPr>
        <p:spPr>
          <a:xfrm>
            <a:off x="816170" y="7848152"/>
            <a:ext cx="0" cy="342900"/>
          </a:xfrm>
          <a:custGeom>
            <a:avLst/>
            <a:gdLst/>
            <a:ahLst/>
            <a:cxnLst/>
            <a:rect l="l" t="t" r="r" b="b"/>
            <a:pathLst>
              <a:path h="342900">
                <a:moveTo>
                  <a:pt x="0" y="342900"/>
                </a:moveTo>
                <a:lnTo>
                  <a:pt x="0" y="0"/>
                </a:lnTo>
              </a:path>
            </a:pathLst>
          </a:custGeom>
          <a:ln w="12700">
            <a:solidFill>
              <a:srgbClr val="0C1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5">
            <a:extLst>
              <a:ext uri="{FF2B5EF4-FFF2-40B4-BE49-F238E27FC236}">
                <a16:creationId xmlns:a16="http://schemas.microsoft.com/office/drawing/2014/main" id="{70A07EBA-3E5E-A2A0-7C09-ED87592C2094}"/>
              </a:ext>
            </a:extLst>
          </p:cNvPr>
          <p:cNvGrpSpPr/>
          <p:nvPr/>
        </p:nvGrpSpPr>
        <p:grpSpPr>
          <a:xfrm>
            <a:off x="809820" y="7839687"/>
            <a:ext cx="4398645" cy="351790"/>
            <a:chOff x="12175066" y="2434167"/>
            <a:chExt cx="4398645" cy="351790"/>
          </a:xfrm>
        </p:grpSpPr>
        <p:sp>
          <p:nvSpPr>
            <p:cNvPr id="29" name="object 6">
              <a:extLst>
                <a:ext uri="{FF2B5EF4-FFF2-40B4-BE49-F238E27FC236}">
                  <a16:creationId xmlns:a16="http://schemas.microsoft.com/office/drawing/2014/main" id="{D353569F-7C88-2265-CCF3-E83D8CDA76AD}"/>
                </a:ext>
              </a:extLst>
            </p:cNvPr>
            <p:cNvSpPr/>
            <p:nvPr/>
          </p:nvSpPr>
          <p:spPr>
            <a:xfrm>
              <a:off x="16537520" y="2442632"/>
              <a:ext cx="0" cy="342900"/>
            </a:xfrm>
            <a:custGeom>
              <a:avLst/>
              <a:gdLst/>
              <a:ahLst/>
              <a:cxnLst/>
              <a:rect l="l" t="t" r="r" b="b"/>
              <a:pathLst>
                <a:path h="342900">
                  <a:moveTo>
                    <a:pt x="0" y="3429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C1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7">
              <a:extLst>
                <a:ext uri="{FF2B5EF4-FFF2-40B4-BE49-F238E27FC236}">
                  <a16:creationId xmlns:a16="http://schemas.microsoft.com/office/drawing/2014/main" id="{5BF947DC-5010-1ED1-6403-F2514DE036EE}"/>
                </a:ext>
              </a:extLst>
            </p:cNvPr>
            <p:cNvSpPr/>
            <p:nvPr/>
          </p:nvSpPr>
          <p:spPr>
            <a:xfrm>
              <a:off x="12175066" y="2448982"/>
              <a:ext cx="4368800" cy="0"/>
            </a:xfrm>
            <a:custGeom>
              <a:avLst/>
              <a:gdLst/>
              <a:ahLst/>
              <a:cxnLst/>
              <a:rect l="l" t="t" r="r" b="b"/>
              <a:pathLst>
                <a:path w="4368800">
                  <a:moveTo>
                    <a:pt x="0" y="0"/>
                  </a:moveTo>
                  <a:lnTo>
                    <a:pt x="4368800" y="0"/>
                  </a:lnTo>
                </a:path>
              </a:pathLst>
            </a:custGeom>
            <a:ln w="12700">
              <a:solidFill>
                <a:srgbClr val="0C1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8">
              <a:extLst>
                <a:ext uri="{FF2B5EF4-FFF2-40B4-BE49-F238E27FC236}">
                  <a16:creationId xmlns:a16="http://schemas.microsoft.com/office/drawing/2014/main" id="{B0F7B29F-7ADC-11C1-8B9A-85BA2604D31B}"/>
                </a:ext>
              </a:extLst>
            </p:cNvPr>
            <p:cNvSpPr/>
            <p:nvPr/>
          </p:nvSpPr>
          <p:spPr>
            <a:xfrm>
              <a:off x="12175066" y="2779182"/>
              <a:ext cx="4368800" cy="0"/>
            </a:xfrm>
            <a:custGeom>
              <a:avLst/>
              <a:gdLst/>
              <a:ahLst/>
              <a:cxnLst/>
              <a:rect l="l" t="t" r="r" b="b"/>
              <a:pathLst>
                <a:path w="4368800">
                  <a:moveTo>
                    <a:pt x="0" y="0"/>
                  </a:moveTo>
                  <a:lnTo>
                    <a:pt x="4368800" y="0"/>
                  </a:lnTo>
                </a:path>
              </a:pathLst>
            </a:custGeom>
            <a:ln w="12700">
              <a:solidFill>
                <a:srgbClr val="0C1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9">
              <a:extLst>
                <a:ext uri="{FF2B5EF4-FFF2-40B4-BE49-F238E27FC236}">
                  <a16:creationId xmlns:a16="http://schemas.microsoft.com/office/drawing/2014/main" id="{F06F54D1-7BEA-A579-1E60-B851A48BC154}"/>
                </a:ext>
              </a:extLst>
            </p:cNvPr>
            <p:cNvSpPr/>
            <p:nvPr/>
          </p:nvSpPr>
          <p:spPr>
            <a:xfrm>
              <a:off x="12181416" y="2468032"/>
              <a:ext cx="0" cy="292100"/>
            </a:xfrm>
            <a:custGeom>
              <a:avLst/>
              <a:gdLst/>
              <a:ahLst/>
              <a:cxnLst/>
              <a:rect l="l" t="t" r="r" b="b"/>
              <a:pathLst>
                <a:path h="292100">
                  <a:moveTo>
                    <a:pt x="0" y="2921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823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0">
              <a:extLst>
                <a:ext uri="{FF2B5EF4-FFF2-40B4-BE49-F238E27FC236}">
                  <a16:creationId xmlns:a16="http://schemas.microsoft.com/office/drawing/2014/main" id="{F1F87086-5E50-81A8-3093-D70469498D88}"/>
                </a:ext>
              </a:extLst>
            </p:cNvPr>
            <p:cNvSpPr/>
            <p:nvPr/>
          </p:nvSpPr>
          <p:spPr>
            <a:xfrm>
              <a:off x="16537520" y="2468032"/>
              <a:ext cx="0" cy="292100"/>
            </a:xfrm>
            <a:custGeom>
              <a:avLst/>
              <a:gdLst/>
              <a:ahLst/>
              <a:cxnLst/>
              <a:rect l="l" t="t" r="r" b="b"/>
              <a:pathLst>
                <a:path h="292100">
                  <a:moveTo>
                    <a:pt x="0" y="2921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823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1">
              <a:extLst>
                <a:ext uri="{FF2B5EF4-FFF2-40B4-BE49-F238E27FC236}">
                  <a16:creationId xmlns:a16="http://schemas.microsoft.com/office/drawing/2014/main" id="{2A292E2A-4A79-5C50-A43F-CEC2D00A83DB}"/>
                </a:ext>
              </a:extLst>
            </p:cNvPr>
            <p:cNvSpPr/>
            <p:nvPr/>
          </p:nvSpPr>
          <p:spPr>
            <a:xfrm>
              <a:off x="12175066" y="2474382"/>
              <a:ext cx="4368800" cy="0"/>
            </a:xfrm>
            <a:custGeom>
              <a:avLst/>
              <a:gdLst/>
              <a:ahLst/>
              <a:cxnLst/>
              <a:rect l="l" t="t" r="r" b="b"/>
              <a:pathLst>
                <a:path w="4368800">
                  <a:moveTo>
                    <a:pt x="0" y="0"/>
                  </a:moveTo>
                  <a:lnTo>
                    <a:pt x="4368800" y="0"/>
                  </a:lnTo>
                </a:path>
              </a:pathLst>
            </a:custGeom>
            <a:ln w="12700">
              <a:solidFill>
                <a:srgbClr val="0823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12">
              <a:extLst>
                <a:ext uri="{FF2B5EF4-FFF2-40B4-BE49-F238E27FC236}">
                  <a16:creationId xmlns:a16="http://schemas.microsoft.com/office/drawing/2014/main" id="{0819F305-324A-7971-ED67-3D8989DC3675}"/>
                </a:ext>
              </a:extLst>
            </p:cNvPr>
            <p:cNvSpPr/>
            <p:nvPr/>
          </p:nvSpPr>
          <p:spPr>
            <a:xfrm>
              <a:off x="12175066" y="2753782"/>
              <a:ext cx="4368800" cy="0"/>
            </a:xfrm>
            <a:custGeom>
              <a:avLst/>
              <a:gdLst/>
              <a:ahLst/>
              <a:cxnLst/>
              <a:rect l="l" t="t" r="r" b="b"/>
              <a:pathLst>
                <a:path w="4368800">
                  <a:moveTo>
                    <a:pt x="0" y="0"/>
                  </a:moveTo>
                  <a:lnTo>
                    <a:pt x="4368800" y="0"/>
                  </a:lnTo>
                </a:path>
              </a:pathLst>
            </a:custGeom>
            <a:ln w="12700">
              <a:solidFill>
                <a:srgbClr val="0823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13">
              <a:extLst>
                <a:ext uri="{FF2B5EF4-FFF2-40B4-BE49-F238E27FC236}">
                  <a16:creationId xmlns:a16="http://schemas.microsoft.com/office/drawing/2014/main" id="{58604AAC-C719-218C-A9B4-73495112D40D}"/>
                </a:ext>
              </a:extLst>
            </p:cNvPr>
            <p:cNvSpPr/>
            <p:nvPr/>
          </p:nvSpPr>
          <p:spPr>
            <a:xfrm>
              <a:off x="12217399" y="2448983"/>
              <a:ext cx="4322445" cy="0"/>
            </a:xfrm>
            <a:custGeom>
              <a:avLst/>
              <a:gdLst/>
              <a:ahLst/>
              <a:cxnLst/>
              <a:rect l="l" t="t" r="r" b="b"/>
              <a:pathLst>
                <a:path w="4322444">
                  <a:moveTo>
                    <a:pt x="0" y="0"/>
                  </a:moveTo>
                  <a:lnTo>
                    <a:pt x="4322233" y="0"/>
                  </a:lnTo>
                </a:path>
              </a:pathLst>
            </a:custGeom>
            <a:ln w="29633">
              <a:solidFill>
                <a:srgbClr val="03233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14">
              <a:extLst>
                <a:ext uri="{FF2B5EF4-FFF2-40B4-BE49-F238E27FC236}">
                  <a16:creationId xmlns:a16="http://schemas.microsoft.com/office/drawing/2014/main" id="{274ECD46-5181-9BB6-D1DB-1E924E1E7B3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522700" y="2451100"/>
              <a:ext cx="50800" cy="266700"/>
            </a:xfrm>
            <a:prstGeom prst="rect">
              <a:avLst/>
            </a:prstGeom>
          </p:spPr>
        </p:pic>
      </p:grpSp>
      <p:sp>
        <p:nvSpPr>
          <p:cNvPr id="38" name="object 20">
            <a:extLst>
              <a:ext uri="{FF2B5EF4-FFF2-40B4-BE49-F238E27FC236}">
                <a16:creationId xmlns:a16="http://schemas.microsoft.com/office/drawing/2014/main" id="{B7475795-0E53-572A-3B8C-620088327CEA}"/>
              </a:ext>
            </a:extLst>
          </p:cNvPr>
          <p:cNvSpPr txBox="1"/>
          <p:nvPr/>
        </p:nvSpPr>
        <p:spPr>
          <a:xfrm>
            <a:off x="1025444" y="8263020"/>
            <a:ext cx="3874770" cy="78483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5240" marR="5080" indent="-3175">
              <a:lnSpc>
                <a:spcPts val="2850"/>
              </a:lnSpc>
              <a:spcBef>
                <a:spcPts val="320"/>
              </a:spcBef>
            </a:pPr>
            <a:r>
              <a:rPr sz="2500" spc="-175" dirty="0">
                <a:solidFill>
                  <a:srgbClr val="4D4D4D"/>
                </a:solidFill>
                <a:latin typeface="Consolas"/>
                <a:cs typeface="Consolas"/>
              </a:rPr>
              <a:t>Hardware:</a:t>
            </a:r>
            <a:r>
              <a:rPr sz="2500" spc="-145" dirty="0">
                <a:solidFill>
                  <a:srgbClr val="4D4D4D"/>
                </a:solidFill>
                <a:latin typeface="Consolas"/>
                <a:cs typeface="Consolas"/>
              </a:rPr>
              <a:t> </a:t>
            </a:r>
            <a:r>
              <a:rPr sz="2500" spc="-170" dirty="0">
                <a:solidFill>
                  <a:srgbClr val="505050"/>
                </a:solidFill>
                <a:latin typeface="Consolas"/>
                <a:cs typeface="Consolas"/>
              </a:rPr>
              <a:t>NVIDIA</a:t>
            </a:r>
            <a:r>
              <a:rPr sz="2500" spc="-120" dirty="0">
                <a:solidFill>
                  <a:srgbClr val="505050"/>
                </a:solidFill>
                <a:latin typeface="Consolas"/>
                <a:cs typeface="Consolas"/>
              </a:rPr>
              <a:t> </a:t>
            </a:r>
            <a:r>
              <a:rPr sz="2500" spc="-180" dirty="0">
                <a:solidFill>
                  <a:srgbClr val="4B4B4B"/>
                </a:solidFill>
                <a:latin typeface="Consolas"/>
                <a:cs typeface="Consolas"/>
              </a:rPr>
              <a:t>Tes</a:t>
            </a:r>
            <a:r>
              <a:rPr lang="en-US" sz="2500" spc="-180" dirty="0">
                <a:solidFill>
                  <a:srgbClr val="4B4B4B"/>
                </a:solidFill>
                <a:latin typeface="Consolas"/>
                <a:cs typeface="Consolas"/>
              </a:rPr>
              <a:t>l</a:t>
            </a:r>
            <a:r>
              <a:rPr sz="2500" spc="-180" dirty="0">
                <a:solidFill>
                  <a:srgbClr val="4B4B4B"/>
                </a:solidFill>
                <a:latin typeface="Consolas"/>
                <a:cs typeface="Consolas"/>
              </a:rPr>
              <a:t>a</a:t>
            </a:r>
            <a:r>
              <a:rPr sz="2500" spc="-165" dirty="0">
                <a:solidFill>
                  <a:srgbClr val="4B4B4B"/>
                </a:solidFill>
                <a:latin typeface="Consolas"/>
                <a:cs typeface="Consolas"/>
              </a:rPr>
              <a:t> </a:t>
            </a:r>
            <a:r>
              <a:rPr sz="2500" spc="-280" dirty="0">
                <a:solidFill>
                  <a:srgbClr val="505050"/>
                </a:solidFill>
                <a:latin typeface="Consolas"/>
                <a:cs typeface="Consolas"/>
              </a:rPr>
              <a:t>T4 </a:t>
            </a:r>
            <a:r>
              <a:rPr sz="2500" spc="-254" dirty="0">
                <a:solidFill>
                  <a:srgbClr val="5E5E5E"/>
                </a:solidFill>
                <a:latin typeface="Consolas"/>
                <a:cs typeface="Consolas"/>
              </a:rPr>
              <a:t>CPU</a:t>
            </a:r>
            <a:r>
              <a:rPr sz="2500" spc="-90" dirty="0">
                <a:solidFill>
                  <a:srgbClr val="5E5E5E"/>
                </a:solidFill>
                <a:latin typeface="Consolas"/>
                <a:cs typeface="Consolas"/>
              </a:rPr>
              <a:t> </a:t>
            </a:r>
            <a:r>
              <a:rPr sz="2500" spc="-155" dirty="0">
                <a:solidFill>
                  <a:srgbClr val="545454"/>
                </a:solidFill>
                <a:latin typeface="Consolas"/>
                <a:cs typeface="Consolas"/>
              </a:rPr>
              <a:t>(Google</a:t>
            </a:r>
            <a:r>
              <a:rPr sz="2500" spc="-25" dirty="0">
                <a:solidFill>
                  <a:srgbClr val="545454"/>
                </a:solidFill>
                <a:latin typeface="Consolas"/>
                <a:cs typeface="Consolas"/>
              </a:rPr>
              <a:t> </a:t>
            </a:r>
            <a:r>
              <a:rPr sz="2500" spc="-50" dirty="0" err="1">
                <a:solidFill>
                  <a:srgbClr val="494949"/>
                </a:solidFill>
                <a:latin typeface="Consolas"/>
                <a:cs typeface="Consolas"/>
              </a:rPr>
              <a:t>Co</a:t>
            </a:r>
            <a:r>
              <a:rPr lang="en-US" sz="2500" spc="-50" dirty="0" err="1">
                <a:solidFill>
                  <a:srgbClr val="494949"/>
                </a:solidFill>
                <a:latin typeface="Consolas"/>
                <a:cs typeface="Consolas"/>
              </a:rPr>
              <a:t>l</a:t>
            </a:r>
            <a:r>
              <a:rPr sz="2500" spc="-50" dirty="0" err="1">
                <a:solidFill>
                  <a:srgbClr val="494949"/>
                </a:solidFill>
                <a:latin typeface="Consolas"/>
                <a:cs typeface="Consolas"/>
              </a:rPr>
              <a:t>ab</a:t>
            </a:r>
            <a:r>
              <a:rPr sz="2500" spc="-50" dirty="0">
                <a:solidFill>
                  <a:srgbClr val="494949"/>
                </a:solidFill>
                <a:latin typeface="Consolas"/>
                <a:cs typeface="Consolas"/>
              </a:rPr>
              <a:t>).</a:t>
            </a:r>
            <a:endParaRPr sz="25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object 7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5878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25"/>
              </a:spcBef>
            </a:pPr>
            <a:r>
              <a:rPr sz="4800" spc="130" dirty="0">
                <a:solidFill>
                  <a:srgbClr val="000101"/>
                </a:solidFill>
              </a:rPr>
              <a:t>Model</a:t>
            </a:r>
            <a:r>
              <a:rPr sz="4800" spc="55" dirty="0">
                <a:solidFill>
                  <a:srgbClr val="000101"/>
                </a:solidFill>
              </a:rPr>
              <a:t> </a:t>
            </a:r>
            <a:r>
              <a:rPr sz="4800" dirty="0">
                <a:solidFill>
                  <a:srgbClr val="000101"/>
                </a:solidFill>
              </a:rPr>
              <a:t>Architectures</a:t>
            </a:r>
            <a:r>
              <a:rPr sz="4800" spc="455" dirty="0">
                <a:solidFill>
                  <a:srgbClr val="000101"/>
                </a:solidFill>
              </a:rPr>
              <a:t> </a:t>
            </a:r>
            <a:r>
              <a:rPr sz="4800" spc="-40" dirty="0">
                <a:solidFill>
                  <a:srgbClr val="000101"/>
                </a:solidFill>
              </a:rPr>
              <a:t>&amp;</a:t>
            </a:r>
            <a:r>
              <a:rPr sz="4800" spc="-280" dirty="0">
                <a:solidFill>
                  <a:srgbClr val="000101"/>
                </a:solidFill>
              </a:rPr>
              <a:t> </a:t>
            </a:r>
            <a:r>
              <a:rPr sz="4800" spc="-10" dirty="0">
                <a:solidFill>
                  <a:srgbClr val="000101"/>
                </a:solidFill>
              </a:rPr>
              <a:t>Logic</a:t>
            </a:r>
            <a:endParaRPr sz="4800"/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B9588266-13E8-A3AE-41F9-0B6217251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6" y="1838099"/>
            <a:ext cx="16088968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object 2">
            <a:extLst>
              <a:ext uri="{FF2B5EF4-FFF2-40B4-BE49-F238E27FC236}">
                <a16:creationId xmlns:a16="http://schemas.microsoft.com/office/drawing/2014/main" id="{093472ED-AF2D-0942-20FA-4EA9516C72C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6700" y="3149600"/>
            <a:ext cx="8013700" cy="4610100"/>
          </a:xfrm>
          <a:prstGeom prst="rect">
            <a:avLst/>
          </a:prstGeom>
        </p:spPr>
      </p:pic>
      <p:sp>
        <p:nvSpPr>
          <p:cNvPr id="84" name="object 3">
            <a:extLst>
              <a:ext uri="{FF2B5EF4-FFF2-40B4-BE49-F238E27FC236}">
                <a16:creationId xmlns:a16="http://schemas.microsoft.com/office/drawing/2014/main" id="{4AF58993-7C61-BDCA-3C6B-A8C06B0EB3BC}"/>
              </a:ext>
            </a:extLst>
          </p:cNvPr>
          <p:cNvSpPr txBox="1"/>
          <p:nvPr/>
        </p:nvSpPr>
        <p:spPr>
          <a:xfrm>
            <a:off x="11887200" y="3073400"/>
            <a:ext cx="4673600" cy="582211"/>
          </a:xfrm>
          <a:prstGeom prst="rect">
            <a:avLst/>
          </a:prstGeom>
          <a:solidFill>
            <a:srgbClr val="16232B"/>
          </a:solidFill>
        </p:spPr>
        <p:txBody>
          <a:bodyPr vert="horz" wrap="square" lIns="0" tIns="88900" rIns="0" bIns="0" rtlCol="0">
            <a:spAutoFit/>
          </a:bodyPr>
          <a:lstStyle/>
          <a:p>
            <a:pPr marL="173355">
              <a:lnSpc>
                <a:spcPct val="100000"/>
              </a:lnSpc>
              <a:spcBef>
                <a:spcPts val="700"/>
              </a:spcBef>
              <a:tabLst>
                <a:tab pos="1035685" algn="l"/>
              </a:tabLst>
            </a:pPr>
            <a:r>
              <a:rPr lang="en-US" sz="3200" dirty="0">
                <a:solidFill>
                  <a:srgbClr val="FFFFFF"/>
                </a:solidFill>
                <a:latin typeface="Arial MT"/>
                <a:cs typeface="Arial MT"/>
              </a:rPr>
              <a:t>LSTM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Statistics:</a:t>
            </a:r>
            <a:endParaRPr sz="3200" dirty="0">
              <a:latin typeface="Arial MT"/>
              <a:cs typeface="Arial MT"/>
            </a:endParaRPr>
          </a:p>
        </p:txBody>
      </p:sp>
      <p:pic>
        <p:nvPicPr>
          <p:cNvPr id="85" name="object 4">
            <a:extLst>
              <a:ext uri="{FF2B5EF4-FFF2-40B4-BE49-F238E27FC236}">
                <a16:creationId xmlns:a16="http://schemas.microsoft.com/office/drawing/2014/main" id="{732CA5E3-476D-915D-4AAA-6E53C96091D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00600" y="7899400"/>
            <a:ext cx="127000" cy="228600"/>
          </a:xfrm>
          <a:prstGeom prst="rect">
            <a:avLst/>
          </a:prstGeom>
        </p:spPr>
      </p:pic>
      <p:pic>
        <p:nvPicPr>
          <p:cNvPr id="86" name="object 5">
            <a:extLst>
              <a:ext uri="{FF2B5EF4-FFF2-40B4-BE49-F238E27FC236}">
                <a16:creationId xmlns:a16="http://schemas.microsoft.com/office/drawing/2014/main" id="{8F3C815E-C174-790D-AAE2-EBA1E393285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55900" y="7886700"/>
            <a:ext cx="127000" cy="254000"/>
          </a:xfrm>
          <a:prstGeom prst="rect">
            <a:avLst/>
          </a:prstGeom>
        </p:spPr>
      </p:pic>
      <p:sp>
        <p:nvSpPr>
          <p:cNvPr id="87" name="object 6">
            <a:extLst>
              <a:ext uri="{FF2B5EF4-FFF2-40B4-BE49-F238E27FC236}">
                <a16:creationId xmlns:a16="http://schemas.microsoft.com/office/drawing/2014/main" id="{9F17830C-BB81-63B2-595C-89DCFBE92F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7359" y="642761"/>
            <a:ext cx="15800480" cy="999489"/>
          </a:xfrm>
          <a:prstGeom prst="rect">
            <a:avLst/>
          </a:prstGeom>
        </p:spPr>
        <p:txBody>
          <a:bodyPr vert="horz" wrap="square" lIns="0" tIns="80786" rIns="0" bIns="0" rtlCol="0">
            <a:spAutoFit/>
          </a:bodyPr>
          <a:lstStyle/>
          <a:p>
            <a:pPr marL="57150">
              <a:lnSpc>
                <a:spcPct val="100000"/>
              </a:lnSpc>
              <a:spcBef>
                <a:spcPts val="100"/>
              </a:spcBef>
            </a:pPr>
            <a:r>
              <a:rPr sz="59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ysClr val="windowText" lastClr="00000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ial MT"/>
                <a:cs typeface="Arial MT"/>
              </a:rPr>
              <a:t>Performance Comparison Results</a:t>
            </a:r>
          </a:p>
        </p:txBody>
      </p:sp>
      <p:sp>
        <p:nvSpPr>
          <p:cNvPr id="88" name="object 7">
            <a:extLst>
              <a:ext uri="{FF2B5EF4-FFF2-40B4-BE49-F238E27FC236}">
                <a16:creationId xmlns:a16="http://schemas.microsoft.com/office/drawing/2014/main" id="{BC9E1A19-6398-6DF3-ECBC-819DB69FFEBB}"/>
              </a:ext>
            </a:extLst>
          </p:cNvPr>
          <p:cNvSpPr txBox="1"/>
          <p:nvPr/>
        </p:nvSpPr>
        <p:spPr>
          <a:xfrm>
            <a:off x="1591728" y="3807530"/>
            <a:ext cx="1063660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800" dirty="0">
                <a:latin typeface="Times New Roman"/>
                <a:cs typeface="Times New Roman"/>
              </a:rPr>
              <a:t>LSTM</a:t>
            </a:r>
          </a:p>
        </p:txBody>
      </p:sp>
      <p:sp>
        <p:nvSpPr>
          <p:cNvPr id="89" name="object 8">
            <a:extLst>
              <a:ext uri="{FF2B5EF4-FFF2-40B4-BE49-F238E27FC236}">
                <a16:creationId xmlns:a16="http://schemas.microsoft.com/office/drawing/2014/main" id="{5245ABF5-E27A-4323-7BE9-A5548BFD4DB0}"/>
              </a:ext>
            </a:extLst>
          </p:cNvPr>
          <p:cNvSpPr txBox="1"/>
          <p:nvPr/>
        </p:nvSpPr>
        <p:spPr>
          <a:xfrm>
            <a:off x="1739900" y="5100813"/>
            <a:ext cx="927844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</a:p>
        </p:txBody>
      </p:sp>
      <p:sp>
        <p:nvSpPr>
          <p:cNvPr id="90" name="object 9">
            <a:extLst>
              <a:ext uri="{FF2B5EF4-FFF2-40B4-BE49-F238E27FC236}">
                <a16:creationId xmlns:a16="http://schemas.microsoft.com/office/drawing/2014/main" id="{7EF07C81-DFDD-1A37-D1A5-B526EDDCC120}"/>
              </a:ext>
            </a:extLst>
          </p:cNvPr>
          <p:cNvSpPr txBox="1"/>
          <p:nvPr/>
        </p:nvSpPr>
        <p:spPr>
          <a:xfrm>
            <a:off x="654937" y="6480766"/>
            <a:ext cx="18288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</a:p>
        </p:txBody>
      </p:sp>
      <p:sp>
        <p:nvSpPr>
          <p:cNvPr id="91" name="object 10">
            <a:extLst>
              <a:ext uri="{FF2B5EF4-FFF2-40B4-BE49-F238E27FC236}">
                <a16:creationId xmlns:a16="http://schemas.microsoft.com/office/drawing/2014/main" id="{6581E870-2831-C2D3-24A2-C385389B2856}"/>
              </a:ext>
            </a:extLst>
          </p:cNvPr>
          <p:cNvSpPr txBox="1"/>
          <p:nvPr/>
        </p:nvSpPr>
        <p:spPr>
          <a:xfrm>
            <a:off x="3240305" y="2393597"/>
            <a:ext cx="5563962" cy="5360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70" dirty="0">
                <a:latin typeface="Calibri"/>
                <a:cs typeface="Calibri"/>
              </a:rPr>
              <a:t>Model</a:t>
            </a:r>
            <a:r>
              <a:rPr sz="3400" spc="50" dirty="0">
                <a:latin typeface="Calibri"/>
                <a:cs typeface="Calibri"/>
              </a:rPr>
              <a:t> </a:t>
            </a:r>
            <a:r>
              <a:rPr sz="3400" dirty="0">
                <a:latin typeface="Calibri"/>
                <a:cs typeface="Calibri"/>
              </a:rPr>
              <a:t>RMSE</a:t>
            </a:r>
            <a:r>
              <a:rPr sz="3400" spc="-15" dirty="0">
                <a:latin typeface="Calibri"/>
                <a:cs typeface="Calibri"/>
              </a:rPr>
              <a:t> </a:t>
            </a:r>
            <a:r>
              <a:rPr sz="3400" spc="75" dirty="0">
                <a:latin typeface="Calibri"/>
                <a:cs typeface="Calibri"/>
              </a:rPr>
              <a:t>(</a:t>
            </a:r>
            <a:r>
              <a:rPr sz="3400" b="1" spc="75" dirty="0">
                <a:latin typeface="Calibri"/>
                <a:cs typeface="Calibri"/>
              </a:rPr>
              <a:t>Lower</a:t>
            </a:r>
            <a:r>
              <a:rPr sz="3400" b="1" spc="-60" dirty="0">
                <a:latin typeface="Calibri"/>
                <a:cs typeface="Calibri"/>
              </a:rPr>
              <a:t> </a:t>
            </a:r>
            <a:r>
              <a:rPr sz="3400" b="1" spc="50" dirty="0">
                <a:solidFill>
                  <a:srgbClr val="0F0F0F"/>
                </a:solidFill>
                <a:latin typeface="Calibri"/>
                <a:cs typeface="Calibri"/>
              </a:rPr>
              <a:t>is</a:t>
            </a:r>
            <a:r>
              <a:rPr sz="3400" b="1" spc="18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3400" b="1" spc="40" dirty="0">
                <a:latin typeface="Calibri"/>
                <a:cs typeface="Calibri"/>
              </a:rPr>
              <a:t>Better</a:t>
            </a:r>
            <a:r>
              <a:rPr sz="3400" spc="40" dirty="0">
                <a:latin typeface="Calibri"/>
                <a:cs typeface="Calibri"/>
              </a:rPr>
              <a:t>)</a:t>
            </a:r>
            <a:endParaRPr sz="3400" dirty="0">
              <a:latin typeface="Calibri"/>
              <a:cs typeface="Calibri"/>
            </a:endParaRPr>
          </a:p>
        </p:txBody>
      </p:sp>
      <p:sp>
        <p:nvSpPr>
          <p:cNvPr id="92" name="object 11">
            <a:extLst>
              <a:ext uri="{FF2B5EF4-FFF2-40B4-BE49-F238E27FC236}">
                <a16:creationId xmlns:a16="http://schemas.microsoft.com/office/drawing/2014/main" id="{40B18568-BE38-F2DF-8D1A-DBE3EEE741FD}"/>
              </a:ext>
            </a:extLst>
          </p:cNvPr>
          <p:cNvSpPr txBox="1"/>
          <p:nvPr/>
        </p:nvSpPr>
        <p:spPr>
          <a:xfrm>
            <a:off x="6733725" y="7764991"/>
            <a:ext cx="34290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700" spc="-220" dirty="0">
                <a:latin typeface="Consolas"/>
                <a:cs typeface="Consolas"/>
              </a:rPr>
              <a:t>10</a:t>
            </a:r>
            <a:endParaRPr sz="2700">
              <a:latin typeface="Consolas"/>
              <a:cs typeface="Consolas"/>
            </a:endParaRPr>
          </a:p>
        </p:txBody>
      </p:sp>
      <p:sp>
        <p:nvSpPr>
          <p:cNvPr id="93" name="object 12">
            <a:extLst>
              <a:ext uri="{FF2B5EF4-FFF2-40B4-BE49-F238E27FC236}">
                <a16:creationId xmlns:a16="http://schemas.microsoft.com/office/drawing/2014/main" id="{B83E73E3-2159-0C73-06EA-C5C79E61B62A}"/>
              </a:ext>
            </a:extLst>
          </p:cNvPr>
          <p:cNvSpPr txBox="1"/>
          <p:nvPr/>
        </p:nvSpPr>
        <p:spPr>
          <a:xfrm>
            <a:off x="8804267" y="7632700"/>
            <a:ext cx="319405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spc="-455" dirty="0">
                <a:latin typeface="Times New Roman"/>
                <a:cs typeface="Times New Roman"/>
              </a:rPr>
              <a:t>zs</a:t>
            </a:r>
            <a:endParaRPr sz="3750">
              <a:latin typeface="Times New Roman"/>
              <a:cs typeface="Times New Roman"/>
            </a:endParaRPr>
          </a:p>
        </p:txBody>
      </p:sp>
      <p:sp>
        <p:nvSpPr>
          <p:cNvPr id="94" name="object 13">
            <a:extLst>
              <a:ext uri="{FF2B5EF4-FFF2-40B4-BE49-F238E27FC236}">
                <a16:creationId xmlns:a16="http://schemas.microsoft.com/office/drawing/2014/main" id="{A0AC0883-20E0-F95E-2CE6-ADC7AA3EF147}"/>
              </a:ext>
            </a:extLst>
          </p:cNvPr>
          <p:cNvSpPr txBox="1"/>
          <p:nvPr/>
        </p:nvSpPr>
        <p:spPr>
          <a:xfrm>
            <a:off x="10838860" y="7387872"/>
            <a:ext cx="325755" cy="817244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 marR="5080" indent="116839">
              <a:lnSpc>
                <a:spcPts val="2900"/>
              </a:lnSpc>
              <a:spcBef>
                <a:spcPts val="555"/>
              </a:spcBef>
            </a:pPr>
            <a:r>
              <a:rPr sz="2750" spc="-50" dirty="0">
                <a:solidFill>
                  <a:srgbClr val="1F1F1F"/>
                </a:solidFill>
                <a:latin typeface="Calibri"/>
                <a:cs typeface="Calibri"/>
              </a:rPr>
              <a:t>I </a:t>
            </a:r>
            <a:r>
              <a:rPr sz="2750" spc="-245" dirty="0">
                <a:latin typeface="Calibri"/>
                <a:cs typeface="Calibri"/>
              </a:rPr>
              <a:t>20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95" name="object 14">
            <a:extLst>
              <a:ext uri="{FF2B5EF4-FFF2-40B4-BE49-F238E27FC236}">
                <a16:creationId xmlns:a16="http://schemas.microsoft.com/office/drawing/2014/main" id="{FEE07744-A3A0-3822-4FB8-8DE542F76ED1}"/>
              </a:ext>
            </a:extLst>
          </p:cNvPr>
          <p:cNvSpPr txBox="1"/>
          <p:nvPr/>
        </p:nvSpPr>
        <p:spPr>
          <a:xfrm>
            <a:off x="12057762" y="3659665"/>
            <a:ext cx="1556638" cy="2339102"/>
          </a:xfrm>
          <a:prstGeom prst="rect">
            <a:avLst/>
          </a:prstGeom>
        </p:spPr>
        <p:txBody>
          <a:bodyPr vert="horz" wrap="square" lIns="0" tIns="276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80"/>
              </a:spcBef>
            </a:pPr>
            <a:r>
              <a:rPr lang="en-US" sz="3250" dirty="0">
                <a:latin typeface="Times New Roman"/>
                <a:cs typeface="Times New Roman"/>
              </a:rPr>
              <a:t>RMSE</a:t>
            </a:r>
            <a:r>
              <a:rPr sz="3250" dirty="0">
                <a:latin typeface="Times New Roman"/>
                <a:cs typeface="Times New Roman"/>
              </a:rPr>
              <a:t>:</a:t>
            </a:r>
          </a:p>
          <a:p>
            <a:pPr marL="12700">
              <a:lnSpc>
                <a:spcPct val="100000"/>
              </a:lnSpc>
              <a:spcBef>
                <a:spcPts val="2150"/>
              </a:spcBef>
            </a:pPr>
            <a:r>
              <a:rPr sz="3300" dirty="0">
                <a:latin typeface="Times New Roman"/>
                <a:cs typeface="Times New Roman"/>
              </a:rPr>
              <a:t>R</a:t>
            </a:r>
            <a:r>
              <a:rPr lang="en-US" sz="3300" dirty="0">
                <a:latin typeface="Times New Roman"/>
                <a:cs typeface="Times New Roman"/>
              </a:rPr>
              <a:t>2</a:t>
            </a:r>
            <a:r>
              <a:rPr sz="3300" dirty="0">
                <a:latin typeface="Times New Roman"/>
                <a:cs typeface="Times New Roman"/>
              </a:rPr>
              <a:t>:</a:t>
            </a:r>
          </a:p>
          <a:p>
            <a:pPr marL="17145">
              <a:lnSpc>
                <a:spcPct val="100000"/>
              </a:lnSpc>
              <a:spcBef>
                <a:spcPts val="2090"/>
              </a:spcBef>
            </a:pPr>
            <a:r>
              <a:rPr lang="en-US" sz="3250" dirty="0">
                <a:latin typeface="Times New Roman"/>
                <a:cs typeface="Times New Roman"/>
              </a:rPr>
              <a:t>MAPE</a:t>
            </a:r>
            <a:r>
              <a:rPr sz="3250" dirty="0"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96" name="object 15">
            <a:extLst>
              <a:ext uri="{FF2B5EF4-FFF2-40B4-BE49-F238E27FC236}">
                <a16:creationId xmlns:a16="http://schemas.microsoft.com/office/drawing/2014/main" id="{50873F33-3739-BDC0-C4ED-06525204A3B8}"/>
              </a:ext>
            </a:extLst>
          </p:cNvPr>
          <p:cNvSpPr txBox="1"/>
          <p:nvPr/>
        </p:nvSpPr>
        <p:spPr>
          <a:xfrm>
            <a:off x="15204059" y="3659665"/>
            <a:ext cx="1209040" cy="2339102"/>
          </a:xfrm>
          <a:prstGeom prst="rect">
            <a:avLst/>
          </a:prstGeom>
        </p:spPr>
        <p:txBody>
          <a:bodyPr vert="horz" wrap="square" lIns="0" tIns="276860" rIns="0" bIns="0" rtlCol="0">
            <a:spAutoFit/>
          </a:bodyPr>
          <a:lstStyle/>
          <a:p>
            <a:pPr marR="33020" algn="r">
              <a:lnSpc>
                <a:spcPct val="100000"/>
              </a:lnSpc>
              <a:spcBef>
                <a:spcPts val="2180"/>
              </a:spcBef>
            </a:pPr>
            <a:r>
              <a:rPr sz="3250" spc="-60" dirty="0">
                <a:solidFill>
                  <a:srgbClr val="774B2D"/>
                </a:solidFill>
                <a:latin typeface="Times New Roman"/>
                <a:cs typeface="Times New Roman"/>
              </a:rPr>
              <a:t>7.3</a:t>
            </a:r>
            <a:r>
              <a:rPr lang="en-US" sz="3250" spc="-60" dirty="0">
                <a:solidFill>
                  <a:srgbClr val="774B2D"/>
                </a:solidFill>
                <a:latin typeface="Times New Roman"/>
                <a:cs typeface="Times New Roman"/>
              </a:rPr>
              <a:t>0</a:t>
            </a:r>
            <a:endParaRPr sz="3250" dirty="0">
              <a:latin typeface="Times New Roman"/>
              <a:cs typeface="Times New Roman"/>
            </a:endParaRPr>
          </a:p>
          <a:p>
            <a:pPr marR="22225" algn="r">
              <a:lnSpc>
                <a:spcPct val="100000"/>
              </a:lnSpc>
              <a:spcBef>
                <a:spcPts val="2150"/>
              </a:spcBef>
            </a:pPr>
            <a:r>
              <a:rPr lang="en-US" sz="3300" spc="-114" dirty="0">
                <a:solidFill>
                  <a:srgbClr val="824F2F"/>
                </a:solidFill>
                <a:latin typeface="Times New Roman"/>
                <a:cs typeface="Times New Roman"/>
              </a:rPr>
              <a:t>0.9978</a:t>
            </a:r>
            <a:endParaRPr sz="3300" dirty="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  <a:spcBef>
                <a:spcPts val="2090"/>
              </a:spcBef>
            </a:pPr>
            <a:r>
              <a:rPr sz="3250" dirty="0">
                <a:solidFill>
                  <a:srgbClr val="90573A"/>
                </a:solidFill>
                <a:latin typeface="Times New Roman"/>
                <a:cs typeface="Times New Roman"/>
              </a:rPr>
              <a:t>1.</a:t>
            </a:r>
            <a:r>
              <a:rPr sz="3250" spc="-10" dirty="0">
                <a:solidFill>
                  <a:srgbClr val="90573A"/>
                </a:solidFill>
                <a:latin typeface="Times New Roman"/>
                <a:cs typeface="Times New Roman"/>
              </a:rPr>
              <a:t> </a:t>
            </a:r>
            <a:r>
              <a:rPr sz="3250" spc="-465" dirty="0">
                <a:solidFill>
                  <a:srgbClr val="7E482B"/>
                </a:solidFill>
                <a:latin typeface="Times New Roman"/>
                <a:cs typeface="Times New Roman"/>
              </a:rPr>
              <a:t>31%</a:t>
            </a:r>
            <a:endParaRPr sz="3250" dirty="0">
              <a:latin typeface="Times New Roman"/>
              <a:cs typeface="Times New Roman"/>
            </a:endParaRPr>
          </a:p>
        </p:txBody>
      </p:sp>
      <p:sp>
        <p:nvSpPr>
          <p:cNvPr id="97" name="object 16">
            <a:extLst>
              <a:ext uri="{FF2B5EF4-FFF2-40B4-BE49-F238E27FC236}">
                <a16:creationId xmlns:a16="http://schemas.microsoft.com/office/drawing/2014/main" id="{6E3562D7-C39F-0BE6-B05A-BA122F144E26}"/>
              </a:ext>
            </a:extLst>
          </p:cNvPr>
          <p:cNvSpPr txBox="1"/>
          <p:nvPr/>
        </p:nvSpPr>
        <p:spPr>
          <a:xfrm>
            <a:off x="12035372" y="6239933"/>
            <a:ext cx="4276090" cy="1275157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 indent="6350">
              <a:lnSpc>
                <a:spcPct val="87600"/>
              </a:lnSpc>
              <a:spcBef>
                <a:spcPts val="545"/>
              </a:spcBef>
            </a:pPr>
            <a:r>
              <a:rPr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LSTM provides </a:t>
            </a:r>
            <a:r>
              <a:rPr sz="3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lowest error and </a:t>
            </a:r>
            <a:r>
              <a:rPr sz="2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stability.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object 15">
            <a:extLst>
              <a:ext uri="{FF2B5EF4-FFF2-40B4-BE49-F238E27FC236}">
                <a16:creationId xmlns:a16="http://schemas.microsoft.com/office/drawing/2014/main" id="{515831CB-8F95-8DD3-15E2-7B3767B837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7359" y="642761"/>
            <a:ext cx="15800480" cy="99948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350" b="1" spc="90" dirty="0">
                <a:solidFill>
                  <a:srgbClr val="071D46"/>
                </a:solidFill>
              </a:rPr>
              <a:t>Visualizing</a:t>
            </a:r>
            <a:r>
              <a:rPr sz="6350" b="1" spc="430" dirty="0">
                <a:solidFill>
                  <a:srgbClr val="071D46"/>
                </a:solidFill>
              </a:rPr>
              <a:t> </a:t>
            </a:r>
            <a:r>
              <a:rPr sz="6350" b="1" dirty="0">
                <a:solidFill>
                  <a:srgbClr val="081F4B"/>
                </a:solidFill>
              </a:rPr>
              <a:t>Predictions</a:t>
            </a:r>
            <a:r>
              <a:rPr sz="6350" b="1" spc="395" dirty="0">
                <a:solidFill>
                  <a:srgbClr val="081F4B"/>
                </a:solidFill>
              </a:rPr>
              <a:t> </a:t>
            </a:r>
            <a:r>
              <a:rPr sz="6350" b="1" dirty="0">
                <a:solidFill>
                  <a:srgbClr val="081F4B"/>
                </a:solidFill>
              </a:rPr>
              <a:t>vs.</a:t>
            </a:r>
            <a:r>
              <a:rPr sz="6350" b="1" spc="220" dirty="0">
                <a:solidFill>
                  <a:srgbClr val="081F4B"/>
                </a:solidFill>
              </a:rPr>
              <a:t> </a:t>
            </a:r>
            <a:r>
              <a:rPr sz="6350" b="1" spc="-10" dirty="0">
                <a:solidFill>
                  <a:srgbClr val="081F4B"/>
                </a:solidFill>
              </a:rPr>
              <a:t>Reality</a:t>
            </a:r>
            <a:endParaRPr sz="6350" b="1" dirty="0"/>
          </a:p>
        </p:txBody>
      </p:sp>
      <p:pic>
        <p:nvPicPr>
          <p:cNvPr id="96" name="Picture 95">
            <a:extLst>
              <a:ext uri="{FF2B5EF4-FFF2-40B4-BE49-F238E27FC236}">
                <a16:creationId xmlns:a16="http://schemas.microsoft.com/office/drawing/2014/main" id="{3A5A14D9-AA36-53F2-76AA-04BD36C1E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523" y="1905000"/>
            <a:ext cx="16452153" cy="6839059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C1D98352-E875-6203-45E2-B8C3FA548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62200" y="8232936"/>
            <a:ext cx="2146300" cy="546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359" y="7239000"/>
            <a:ext cx="15671800" cy="0"/>
          </a:xfrm>
          <a:custGeom>
            <a:avLst/>
            <a:gdLst/>
            <a:ahLst/>
            <a:cxnLst/>
            <a:rect l="l" t="t" r="r" b="b"/>
            <a:pathLst>
              <a:path w="15671800">
                <a:moveTo>
                  <a:pt x="0" y="0"/>
                </a:moveTo>
                <a:lnTo>
                  <a:pt x="15671800" y="0"/>
                </a:lnTo>
              </a:path>
            </a:pathLst>
          </a:custGeom>
          <a:ln w="25400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486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sz="5900" b="1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MT"/>
                <a:cs typeface="Arial MT"/>
              </a:rPr>
              <a:t>Critical Analysis of Findings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86689" y="2411941"/>
            <a:ext cx="16080511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309609" algn="l"/>
              </a:tabLst>
            </a:pPr>
            <a:r>
              <a:rPr sz="3600" b="1" dirty="0">
                <a:solidFill>
                  <a:srgbClr val="081C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sz="3600" b="1" dirty="0">
                <a:solidFill>
                  <a:srgbClr val="0818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 </a:t>
            </a:r>
            <a:r>
              <a:rPr sz="3600" b="1" dirty="0">
                <a:solidFill>
                  <a:srgbClr val="0318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Won	</a:t>
            </a:r>
            <a:r>
              <a:rPr lang="en-US" sz="3600" b="1" dirty="0">
                <a:solidFill>
                  <a:srgbClr val="011A3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Transformer Underperformed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9014" y="3188758"/>
            <a:ext cx="8282152" cy="336630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84200" indent="-571500" algn="l">
              <a:spcBef>
                <a:spcPts val="90"/>
              </a:spcBef>
              <a:buClr>
                <a:srgbClr val="5E6E7E"/>
              </a:buClr>
              <a:buFont typeface="Arial" panose="020B0604020202020204" pitchFamily="34" charset="0"/>
              <a:buChar char="•"/>
              <a:tabLst>
                <a:tab pos="550545" algn="l"/>
                <a:tab pos="2713990" algn="l"/>
                <a:tab pos="5728335" algn="l"/>
              </a:tabLst>
            </a:pPr>
            <a:r>
              <a:rPr sz="2800" dirty="0">
                <a:latin typeface="Consolas" panose="020B0609020204030204" pitchFamily="49" charset="0"/>
                <a:cs typeface="Consolas" panose="020B0609020204030204" pitchFamily="49" charset="0"/>
              </a:rPr>
              <a:t>Recurrent	Architecture: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sz="2800" dirty="0">
                <a:latin typeface="Consolas" panose="020B0609020204030204" pitchFamily="49" charset="0"/>
                <a:cs typeface="Consolas" panose="020B0609020204030204" pitchFamily="49" charset="0"/>
              </a:rPr>
              <a:t>The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 LSTM’s memory  cells were perfectly	suited for the 60-day temporal dependencies	 of daily stock data.</a:t>
            </a:r>
          </a:p>
          <a:p>
            <a:pPr marL="550545" indent="-537845">
              <a:spcBef>
                <a:spcPts val="90"/>
              </a:spcBef>
              <a:buClr>
                <a:srgbClr val="5E6E7E"/>
              </a:buClr>
              <a:buFontTx/>
              <a:buChar char="•"/>
              <a:tabLst>
                <a:tab pos="550545" algn="l"/>
                <a:tab pos="2713990" algn="l"/>
                <a:tab pos="5728335" algn="l"/>
              </a:tabLst>
            </a:pPr>
            <a:endParaRPr lang="en-US" sz="3200" dirty="0">
              <a:latin typeface="Calibri"/>
              <a:cs typeface="Calibri"/>
            </a:endParaRPr>
          </a:p>
          <a:p>
            <a:pPr marL="550545" indent="-537845">
              <a:spcBef>
                <a:spcPts val="90"/>
              </a:spcBef>
              <a:buClr>
                <a:srgbClr val="5E6E7E"/>
              </a:buClr>
              <a:buFontTx/>
              <a:buChar char="•"/>
              <a:tabLst>
                <a:tab pos="550545" algn="l"/>
                <a:tab pos="2713990" algn="l"/>
                <a:tab pos="5728335" algn="l"/>
              </a:tabLst>
            </a:pPr>
            <a:endParaRPr lang="en-US" sz="3200" dirty="0">
              <a:latin typeface="Calibri"/>
              <a:cs typeface="Calibri"/>
            </a:endParaRPr>
          </a:p>
          <a:p>
            <a:pPr marL="550545" indent="-537845">
              <a:lnSpc>
                <a:spcPct val="100000"/>
              </a:lnSpc>
              <a:spcBef>
                <a:spcPts val="90"/>
              </a:spcBef>
              <a:buClr>
                <a:srgbClr val="5E6E7E"/>
              </a:buClr>
              <a:buChar char="•"/>
              <a:tabLst>
                <a:tab pos="550545" algn="l"/>
                <a:tab pos="2713990" algn="l"/>
                <a:tab pos="5728335" algn="l"/>
              </a:tabLst>
            </a:pPr>
            <a:endParaRPr sz="355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81166" y="3194402"/>
            <a:ext cx="6372860" cy="355328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539115" marR="5080" indent="-525780">
              <a:lnSpc>
                <a:spcPct val="104000"/>
              </a:lnSpc>
              <a:spcBef>
                <a:spcPts val="190"/>
              </a:spcBef>
              <a:buChar char="•"/>
              <a:tabLst>
                <a:tab pos="539115" algn="l"/>
                <a:tab pos="563245" algn="l"/>
                <a:tab pos="2875915" algn="l"/>
                <a:tab pos="5263515" algn="l"/>
              </a:tabLst>
            </a:pPr>
            <a:r>
              <a:rPr sz="2800" dirty="0">
                <a:solidFill>
                  <a:srgbClr val="62747E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sz="2800" dirty="0">
                <a:latin typeface="Consolas" panose="020B0609020204030204" pitchFamily="49" charset="0"/>
                <a:cs typeface="Consolas" panose="020B0609020204030204" pitchFamily="49" charset="0"/>
              </a:rPr>
              <a:t>Sequence Length: 60 days is like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  <a:r>
              <a:rPr sz="2800" dirty="0">
                <a:latin typeface="Consolas" panose="020B0609020204030204" pitchFamily="49" charset="0"/>
                <a:cs typeface="Consolas" panose="020B0609020204030204" pitchFamily="49" charset="0"/>
              </a:rPr>
              <a:t>y too short for 'Se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l</a:t>
            </a:r>
            <a:r>
              <a:rPr sz="2800" dirty="0">
                <a:latin typeface="Consolas" panose="020B0609020204030204" pitchFamily="49" charset="0"/>
                <a:cs typeface="Consolas" panose="020B0609020204030204" pitchFamily="49" charset="0"/>
              </a:rPr>
              <a:t>f- Attention '	mechan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sz="2800" dirty="0">
                <a:latin typeface="Consolas" panose="020B0609020204030204" pitchFamily="49" charset="0"/>
                <a:cs typeface="Consolas" panose="020B0609020204030204" pitchFamily="49" charset="0"/>
              </a:rPr>
              <a:t>sms	to thrive.</a:t>
            </a:r>
          </a:p>
          <a:p>
            <a:pPr marL="576580" indent="-563880">
              <a:spcBef>
                <a:spcPts val="140"/>
              </a:spcBef>
              <a:buClr>
                <a:srgbClr val="64757E"/>
              </a:buClr>
              <a:buFontTx/>
              <a:buChar char="•"/>
              <a:tabLst>
                <a:tab pos="576580" algn="l"/>
              </a:tabLst>
            </a:pPr>
            <a:r>
              <a:rPr sz="2800" dirty="0">
                <a:latin typeface="Consolas"/>
                <a:cs typeface="Consolas"/>
              </a:rPr>
              <a:t>Data Volume: Transformers</a:t>
            </a:r>
            <a:r>
              <a:rPr lang="en-US" sz="2800" dirty="0">
                <a:latin typeface="Consolas"/>
                <a:cs typeface="Consolas"/>
              </a:rPr>
              <a:t> generally, require massive datasets to generalize better than RNNs.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37359" y="7239000"/>
            <a:ext cx="15175230" cy="1407437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295"/>
              </a:spcBef>
            </a:pPr>
            <a:endParaRPr sz="3300" dirty="0">
              <a:latin typeface="Consolas"/>
              <a:cs typeface="Consolas"/>
            </a:endParaRPr>
          </a:p>
          <a:p>
            <a:pPr marL="12700" marR="313055" indent="1905">
              <a:lnSpc>
                <a:spcPts val="3400"/>
              </a:lnSpc>
              <a:spcBef>
                <a:spcPts val="5"/>
              </a:spcBef>
            </a:pPr>
            <a:r>
              <a:rPr sz="2800" dirty="0">
                <a:solidFill>
                  <a:srgbClr val="82563A"/>
                </a:solidFill>
                <a:latin typeface="Courier New"/>
                <a:cs typeface="Courier New"/>
              </a:rPr>
              <a:t>Feat</a:t>
            </a:r>
            <a:r>
              <a:rPr lang="en-US" sz="2800" dirty="0">
                <a:solidFill>
                  <a:srgbClr val="82563A"/>
                </a:solidFill>
                <a:latin typeface="Courier New"/>
                <a:cs typeface="Courier New"/>
              </a:rPr>
              <a:t>u</a:t>
            </a:r>
            <a:r>
              <a:rPr sz="2800" dirty="0">
                <a:solidFill>
                  <a:srgbClr val="82563A"/>
                </a:solidFill>
                <a:latin typeface="Courier New"/>
                <a:cs typeface="Courier New"/>
              </a:rPr>
              <a:t>re </a:t>
            </a:r>
            <a:r>
              <a:rPr sz="2800" dirty="0">
                <a:solidFill>
                  <a:srgbClr val="8C5E3D"/>
                </a:solidFill>
                <a:latin typeface="Courier New"/>
                <a:cs typeface="Courier New"/>
              </a:rPr>
              <a:t>Engineering </a:t>
            </a:r>
            <a:r>
              <a:rPr sz="2800" dirty="0">
                <a:solidFill>
                  <a:srgbClr val="975D38"/>
                </a:solidFill>
                <a:latin typeface="Courier New"/>
                <a:cs typeface="Courier New"/>
              </a:rPr>
              <a:t>Insight: </a:t>
            </a:r>
            <a:r>
              <a:rPr sz="2800" dirty="0">
                <a:latin typeface="Courier New"/>
                <a:cs typeface="Courier New"/>
              </a:rPr>
              <a:t>Minimal features (Price + Momentum + Embeddings) reduced noise compared to complex technical indicators.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62400" y="6083300"/>
            <a:ext cx="1346200" cy="1333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53900" y="6083300"/>
            <a:ext cx="1498600" cy="1333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86200" y="2260600"/>
            <a:ext cx="1498600" cy="1473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28500" y="2209800"/>
            <a:ext cx="1549400" cy="15621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14400" y="5746750"/>
            <a:ext cx="15646400" cy="0"/>
          </a:xfrm>
          <a:custGeom>
            <a:avLst/>
            <a:gdLst/>
            <a:ahLst/>
            <a:cxnLst/>
            <a:rect l="l" t="t" r="r" b="b"/>
            <a:pathLst>
              <a:path w="15646400">
                <a:moveTo>
                  <a:pt x="0" y="0"/>
                </a:moveTo>
                <a:lnTo>
                  <a:pt x="15646400" y="0"/>
                </a:lnTo>
              </a:path>
            </a:pathLst>
          </a:custGeom>
          <a:ln w="12700">
            <a:solidFill>
              <a:srgbClr val="666666"/>
            </a:solidFill>
          </a:ln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7359" y="642761"/>
            <a:ext cx="15800480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450">
              <a:lnSpc>
                <a:spcPct val="100000"/>
              </a:lnSpc>
              <a:spcBef>
                <a:spcPts val="95"/>
              </a:spcBef>
            </a:pPr>
            <a:r>
              <a:rPr sz="6600" b="1" dirty="0">
                <a:ln w="0"/>
                <a:solidFill>
                  <a:sysClr val="windowText" lastClr="000000"/>
                </a:solidFill>
              </a:rPr>
              <a:t>Key Findings &amp; Impact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32749" y="3847041"/>
            <a:ext cx="7358380" cy="15446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384" algn="ctr">
              <a:lnSpc>
                <a:spcPct val="100000"/>
              </a:lnSpc>
              <a:spcBef>
                <a:spcPts val="105"/>
              </a:spcBef>
            </a:pPr>
            <a:r>
              <a:rPr sz="3950" spc="-35" dirty="0">
                <a:solidFill>
                  <a:srgbClr val="051A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sz="3950" spc="-170" dirty="0">
                <a:solidFill>
                  <a:srgbClr val="051A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950" spc="-10" dirty="0">
                <a:solidFill>
                  <a:srgbClr val="071C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Matters</a:t>
            </a:r>
            <a:endParaRPr sz="3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ts val="3300"/>
              </a:lnSpc>
              <a:spcBef>
                <a:spcPts val="570"/>
              </a:spcBef>
            </a:pPr>
            <a:r>
              <a:rPr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LSTM's memory architecture is currently superior for this specific data scale.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23485" y="7509580"/>
            <a:ext cx="6971665" cy="15157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3655" algn="ctr">
              <a:lnSpc>
                <a:spcPct val="100000"/>
              </a:lnSpc>
              <a:spcBef>
                <a:spcPts val="120"/>
              </a:spcBef>
            </a:pPr>
            <a:r>
              <a:rPr sz="3800" dirty="0">
                <a:solidFill>
                  <a:srgbClr val="081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Simplicity</a:t>
            </a:r>
            <a:r>
              <a:rPr sz="3800" spc="185" dirty="0">
                <a:solidFill>
                  <a:srgbClr val="081A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800" spc="-20" dirty="0">
                <a:solidFill>
                  <a:srgbClr val="081C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Wins</a:t>
            </a:r>
            <a:endParaRPr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ts val="3300"/>
              </a:lnSpc>
              <a:spcBef>
                <a:spcPts val="600"/>
              </a:spcBef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complex technical indicators improved regression accuracy.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582050" y="3853932"/>
            <a:ext cx="6625590" cy="1515158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sz="3550" spc="-20" dirty="0">
                <a:solidFill>
                  <a:srgbClr val="051A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Unified</a:t>
            </a:r>
            <a:r>
              <a:rPr sz="3550" spc="-200" dirty="0">
                <a:solidFill>
                  <a:srgbClr val="051A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550" spc="-10" dirty="0">
                <a:solidFill>
                  <a:srgbClr val="0A21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endParaRPr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3345"/>
              </a:lnSpc>
              <a:spcBef>
                <a:spcPts val="340"/>
              </a:spcBef>
              <a:tabLst>
                <a:tab pos="2086610" algn="l"/>
                <a:tab pos="4535805" algn="l"/>
                <a:tab pos="6047105" algn="l"/>
              </a:tabLst>
            </a:pP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</a:t>
            </a:r>
            <a:r>
              <a:rPr lang="en-US"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ngs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successfully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allowed</a:t>
            </a:r>
            <a:r>
              <a:rPr lang="en-US" sz="3200" spc="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42545" algn="ctr">
              <a:lnSpc>
                <a:spcPts val="3525"/>
              </a:lnSpc>
              <a:tabLst>
                <a:tab pos="1153160" algn="l"/>
                <a:tab pos="1701164" algn="l"/>
                <a:tab pos="3235325" algn="l"/>
                <a:tab pos="3970654" algn="l"/>
                <a:tab pos="4545965" algn="l"/>
              </a:tabLst>
            </a:pP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sz="32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200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</a:t>
            </a:r>
            <a:r>
              <a:rPr lang="en-US"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</a:t>
            </a:r>
            <a:r>
              <a:rPr lang="en-US" sz="32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lang="en-US" sz="32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banks.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66712" y="7507110"/>
            <a:ext cx="6607809" cy="15176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41910" algn="ctr">
              <a:lnSpc>
                <a:spcPct val="100000"/>
              </a:lnSpc>
              <a:spcBef>
                <a:spcPts val="135"/>
              </a:spcBef>
            </a:pPr>
            <a:r>
              <a:rPr sz="3850" spc="-50" dirty="0">
                <a:solidFill>
                  <a:srgbClr val="051A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</a:t>
            </a:r>
            <a:r>
              <a:rPr sz="3850" spc="-114" dirty="0">
                <a:solidFill>
                  <a:srgbClr val="051A2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850" spc="-10" dirty="0">
                <a:solidFill>
                  <a:srgbClr val="0518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sz="3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38100" algn="ctr">
              <a:lnSpc>
                <a:spcPts val="3300"/>
              </a:lnSpc>
              <a:spcBef>
                <a:spcPts val="540"/>
              </a:spcBef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mechanisms need longer sequences to outperform recurrence.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5100" y="6070600"/>
            <a:ext cx="1320800" cy="1358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42800" y="6070600"/>
            <a:ext cx="1397000" cy="1358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48100" y="2197100"/>
            <a:ext cx="1562100" cy="1549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53900" y="2197100"/>
            <a:ext cx="1574800" cy="154940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39800" y="5746750"/>
            <a:ext cx="15621000" cy="0"/>
          </a:xfrm>
          <a:custGeom>
            <a:avLst/>
            <a:gdLst/>
            <a:ahLst/>
            <a:cxnLst/>
            <a:rect l="l" t="t" r="r" b="b"/>
            <a:pathLst>
              <a:path w="15621000">
                <a:moveTo>
                  <a:pt x="0" y="0"/>
                </a:moveTo>
                <a:lnTo>
                  <a:pt x="15621000" y="0"/>
                </a:lnTo>
              </a:path>
            </a:pathLst>
          </a:custGeom>
          <a:ln w="12700">
            <a:solidFill>
              <a:srgbClr val="62626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206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120"/>
              </a:spcBef>
            </a:pPr>
            <a:r>
              <a:rPr sz="5950" b="1" dirty="0">
                <a:solidFill>
                  <a:srgbClr val="081C38"/>
                </a:solidFill>
                <a:latin typeface="Arial MT"/>
                <a:cs typeface="Arial MT"/>
              </a:rPr>
              <a:t>Real-World</a:t>
            </a:r>
            <a:r>
              <a:rPr sz="5950" b="1" spc="509" dirty="0">
                <a:solidFill>
                  <a:srgbClr val="081C38"/>
                </a:solidFill>
                <a:latin typeface="Arial MT"/>
                <a:cs typeface="Arial MT"/>
              </a:rPr>
              <a:t> </a:t>
            </a:r>
            <a:r>
              <a:rPr sz="5950" b="1" spc="120" dirty="0">
                <a:solidFill>
                  <a:srgbClr val="0C2644"/>
                </a:solidFill>
                <a:latin typeface="Arial MT"/>
                <a:cs typeface="Arial MT"/>
              </a:rPr>
              <a:t>Applications</a:t>
            </a:r>
            <a:endParaRPr sz="5950" b="1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1864" y="3887258"/>
            <a:ext cx="7415735" cy="108375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29845" algn="ctr">
              <a:lnSpc>
                <a:spcPts val="4230"/>
              </a:lnSpc>
              <a:spcBef>
                <a:spcPts val="90"/>
              </a:spcBef>
            </a:pPr>
            <a:r>
              <a:rPr sz="3550" spc="60" dirty="0">
                <a:solidFill>
                  <a:srgbClr val="0C1A2D"/>
                </a:solidFill>
                <a:latin typeface="Arial MT"/>
                <a:cs typeface="Arial MT"/>
              </a:rPr>
              <a:t>Investors</a:t>
            </a:r>
            <a:r>
              <a:rPr sz="3550" spc="-35" dirty="0">
                <a:solidFill>
                  <a:srgbClr val="0C1A2D"/>
                </a:solidFill>
                <a:latin typeface="Arial MT"/>
                <a:cs typeface="Arial MT"/>
              </a:rPr>
              <a:t> </a:t>
            </a:r>
            <a:r>
              <a:rPr sz="3550" dirty="0">
                <a:solidFill>
                  <a:srgbClr val="071C2D"/>
                </a:solidFill>
                <a:latin typeface="Arial MT"/>
                <a:cs typeface="Arial MT"/>
              </a:rPr>
              <a:t>&amp;</a:t>
            </a:r>
            <a:r>
              <a:rPr sz="3550" spc="-135" dirty="0">
                <a:solidFill>
                  <a:srgbClr val="071C2D"/>
                </a:solidFill>
                <a:latin typeface="Arial MT"/>
                <a:cs typeface="Arial MT"/>
              </a:rPr>
              <a:t> </a:t>
            </a:r>
            <a:r>
              <a:rPr sz="3550" spc="-10" dirty="0">
                <a:solidFill>
                  <a:srgbClr val="0C1F2D"/>
                </a:solidFill>
                <a:latin typeface="Arial MT"/>
                <a:cs typeface="Arial MT"/>
              </a:rPr>
              <a:t>Traders</a:t>
            </a:r>
            <a:endParaRPr sz="3550" dirty="0">
              <a:latin typeface="Arial MT"/>
              <a:cs typeface="Arial MT"/>
            </a:endParaRPr>
          </a:p>
          <a:p>
            <a:pPr marL="12065" marR="5080" algn="ctr">
              <a:lnSpc>
                <a:spcPts val="3400"/>
              </a:lnSpc>
              <a:spcBef>
                <a:spcPts val="700"/>
              </a:spcBef>
              <a:tabLst>
                <a:tab pos="1917064" algn="l"/>
                <a:tab pos="2568575" algn="l"/>
                <a:tab pos="4499610" algn="l"/>
                <a:tab pos="4673600" algn="l"/>
                <a:tab pos="5749290" algn="l"/>
              </a:tabLst>
            </a:pPr>
            <a:r>
              <a:rPr sz="3450" spc="145" dirty="0">
                <a:latin typeface="Calibri"/>
                <a:cs typeface="Calibri"/>
              </a:rPr>
              <a:t>Data-</a:t>
            </a:r>
            <a:r>
              <a:rPr sz="3450" spc="130" dirty="0">
                <a:latin typeface="Calibri"/>
                <a:cs typeface="Calibri"/>
              </a:rPr>
              <a:t>driven</a:t>
            </a:r>
            <a:r>
              <a:rPr sz="3450" dirty="0">
                <a:latin typeface="Calibri"/>
                <a:cs typeface="Calibri"/>
              </a:rPr>
              <a:t>	</a:t>
            </a:r>
            <a:r>
              <a:rPr sz="3450" spc="185" dirty="0">
                <a:latin typeface="Calibri"/>
                <a:cs typeface="Calibri"/>
              </a:rPr>
              <a:t>decisions</a:t>
            </a:r>
            <a:endParaRPr sz="345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61629" y="7551208"/>
            <a:ext cx="5939155" cy="1518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93444">
              <a:lnSpc>
                <a:spcPct val="100000"/>
              </a:lnSpc>
              <a:spcBef>
                <a:spcPts val="90"/>
              </a:spcBef>
            </a:pPr>
            <a:r>
              <a:rPr sz="3550" dirty="0">
                <a:solidFill>
                  <a:srgbClr val="0E1F34"/>
                </a:solidFill>
                <a:latin typeface="Arial MT"/>
                <a:cs typeface="Arial MT"/>
              </a:rPr>
              <a:t>Regulators</a:t>
            </a:r>
            <a:r>
              <a:rPr sz="3550" spc="275" dirty="0">
                <a:solidFill>
                  <a:srgbClr val="0E1F34"/>
                </a:solidFill>
                <a:latin typeface="Arial MT"/>
                <a:cs typeface="Arial MT"/>
              </a:rPr>
              <a:t> </a:t>
            </a:r>
            <a:r>
              <a:rPr sz="3550" spc="-30" dirty="0">
                <a:solidFill>
                  <a:srgbClr val="161616"/>
                </a:solidFill>
                <a:latin typeface="Arial MT"/>
                <a:cs typeface="Arial MT"/>
              </a:rPr>
              <a:t>(SEBON)</a:t>
            </a:r>
            <a:endParaRPr sz="3550" dirty="0">
              <a:latin typeface="Arial MT"/>
              <a:cs typeface="Arial MT"/>
            </a:endParaRPr>
          </a:p>
          <a:p>
            <a:pPr marL="427355" marR="5080" indent="-415290">
              <a:lnSpc>
                <a:spcPts val="3500"/>
              </a:lnSpc>
              <a:spcBef>
                <a:spcPts val="540"/>
              </a:spcBef>
            </a:pPr>
            <a:r>
              <a:rPr sz="3300" spc="-145" dirty="0">
                <a:latin typeface="Consolas"/>
                <a:cs typeface="Consolas"/>
              </a:rPr>
              <a:t>Anomaly</a:t>
            </a:r>
            <a:r>
              <a:rPr sz="3300" spc="-310" dirty="0">
                <a:latin typeface="Consolas"/>
                <a:cs typeface="Consolas"/>
              </a:rPr>
              <a:t> </a:t>
            </a:r>
            <a:r>
              <a:rPr sz="3300" spc="-155" dirty="0">
                <a:latin typeface="Consolas"/>
                <a:cs typeface="Consolas"/>
              </a:rPr>
              <a:t>detection</a:t>
            </a:r>
            <a:r>
              <a:rPr sz="3300" spc="-245" dirty="0">
                <a:latin typeface="Consolas"/>
                <a:cs typeface="Consolas"/>
              </a:rPr>
              <a:t> </a:t>
            </a:r>
            <a:r>
              <a:rPr sz="3300" spc="-140" dirty="0">
                <a:latin typeface="Consolas"/>
                <a:cs typeface="Consolas"/>
              </a:rPr>
              <a:t>for</a:t>
            </a:r>
            <a:r>
              <a:rPr sz="3300" spc="-315" dirty="0">
                <a:latin typeface="Consolas"/>
                <a:cs typeface="Consolas"/>
              </a:rPr>
              <a:t> </a:t>
            </a:r>
            <a:r>
              <a:rPr sz="3300" spc="-95" dirty="0">
                <a:latin typeface="Consolas"/>
                <a:cs typeface="Consolas"/>
              </a:rPr>
              <a:t>market </a:t>
            </a:r>
            <a:r>
              <a:rPr sz="3300" spc="-160" dirty="0">
                <a:latin typeface="Consolas"/>
                <a:cs typeface="Consolas"/>
              </a:rPr>
              <a:t>manipulation</a:t>
            </a:r>
            <a:r>
              <a:rPr sz="3300" spc="-195" dirty="0">
                <a:latin typeface="Consolas"/>
                <a:cs typeface="Consolas"/>
              </a:rPr>
              <a:t> </a:t>
            </a:r>
            <a:r>
              <a:rPr sz="3300" spc="-90" dirty="0">
                <a:latin typeface="Consolas"/>
                <a:cs typeface="Consolas"/>
              </a:rPr>
              <a:t>monitoring.</a:t>
            </a:r>
            <a:endParaRPr sz="3300" dirty="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65829" y="3887258"/>
            <a:ext cx="6166485" cy="151066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 marR="5080" indent="-57785" algn="ctr">
              <a:lnSpc>
                <a:spcPct val="94700"/>
              </a:lnSpc>
              <a:spcBef>
                <a:spcPts val="315"/>
              </a:spcBef>
            </a:pPr>
            <a:r>
              <a:rPr sz="3550" dirty="0">
                <a:solidFill>
                  <a:srgbClr val="0A1D2D"/>
                </a:solidFill>
                <a:latin typeface="Arial MT"/>
                <a:cs typeface="Arial MT"/>
              </a:rPr>
              <a:t>Financial</a:t>
            </a:r>
            <a:r>
              <a:rPr sz="3550" spc="20" dirty="0">
                <a:solidFill>
                  <a:srgbClr val="0A1D2D"/>
                </a:solidFill>
                <a:latin typeface="Arial MT"/>
                <a:cs typeface="Arial MT"/>
              </a:rPr>
              <a:t> </a:t>
            </a:r>
            <a:r>
              <a:rPr sz="3550" spc="85" dirty="0">
                <a:solidFill>
                  <a:srgbClr val="0A1A2A"/>
                </a:solidFill>
                <a:latin typeface="Arial MT"/>
                <a:cs typeface="Arial MT"/>
              </a:rPr>
              <a:t>Institutions </a:t>
            </a:r>
            <a:r>
              <a:rPr sz="3300" spc="-165" dirty="0">
                <a:latin typeface="Consolas"/>
                <a:cs typeface="Consolas"/>
              </a:rPr>
              <a:t>Automated</a:t>
            </a:r>
            <a:r>
              <a:rPr sz="3300" spc="-254" dirty="0">
                <a:latin typeface="Consolas"/>
                <a:cs typeface="Consolas"/>
              </a:rPr>
              <a:t> </a:t>
            </a:r>
            <a:r>
              <a:rPr sz="3300" spc="-135" dirty="0">
                <a:latin typeface="Consolas"/>
                <a:cs typeface="Consolas"/>
              </a:rPr>
              <a:t>risk</a:t>
            </a:r>
            <a:r>
              <a:rPr sz="3300" spc="-320" dirty="0">
                <a:latin typeface="Consolas"/>
                <a:cs typeface="Consolas"/>
              </a:rPr>
              <a:t> </a:t>
            </a:r>
            <a:r>
              <a:rPr sz="3300" spc="-130" dirty="0">
                <a:latin typeface="Consolas"/>
                <a:cs typeface="Consolas"/>
              </a:rPr>
              <a:t>assessment</a:t>
            </a:r>
            <a:r>
              <a:rPr sz="3300" spc="-229" dirty="0">
                <a:latin typeface="Consolas"/>
                <a:cs typeface="Consolas"/>
              </a:rPr>
              <a:t> </a:t>
            </a:r>
            <a:r>
              <a:rPr sz="3300" spc="-45" dirty="0">
                <a:latin typeface="Consolas"/>
                <a:cs typeface="Consolas"/>
              </a:rPr>
              <a:t>and </a:t>
            </a:r>
            <a:r>
              <a:rPr sz="3250" spc="-105" dirty="0">
                <a:latin typeface="Consolas"/>
                <a:cs typeface="Consolas"/>
              </a:rPr>
              <a:t>portfolio</a:t>
            </a:r>
            <a:r>
              <a:rPr sz="3250" spc="-300" dirty="0">
                <a:latin typeface="Consolas"/>
                <a:cs typeface="Consolas"/>
              </a:rPr>
              <a:t> </a:t>
            </a:r>
            <a:r>
              <a:rPr sz="3250" spc="-50" dirty="0">
                <a:latin typeface="Consolas"/>
                <a:cs typeface="Consolas"/>
              </a:rPr>
              <a:t>management.</a:t>
            </a:r>
            <a:endParaRPr sz="3250" dirty="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52488" y="7539919"/>
            <a:ext cx="7514711" cy="152734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135255" algn="ctr">
              <a:lnSpc>
                <a:spcPct val="100000"/>
              </a:lnSpc>
              <a:spcBef>
                <a:spcPts val="130"/>
              </a:spcBef>
            </a:pPr>
            <a:r>
              <a:rPr sz="3650" dirty="0">
                <a:solidFill>
                  <a:srgbClr val="0A2138"/>
                </a:solidFill>
                <a:latin typeface="Arial MT"/>
                <a:cs typeface="Arial MT"/>
              </a:rPr>
              <a:t>Market</a:t>
            </a:r>
            <a:r>
              <a:rPr sz="3650" spc="110" dirty="0">
                <a:solidFill>
                  <a:srgbClr val="0A2138"/>
                </a:solidFill>
                <a:latin typeface="Arial MT"/>
                <a:cs typeface="Arial MT"/>
              </a:rPr>
              <a:t> </a:t>
            </a:r>
            <a:r>
              <a:rPr sz="3650" spc="-10" dirty="0">
                <a:solidFill>
                  <a:srgbClr val="0C1C33"/>
                </a:solidFill>
                <a:latin typeface="Arial MT"/>
                <a:cs typeface="Arial MT"/>
              </a:rPr>
              <a:t>Transparency</a:t>
            </a:r>
            <a:endParaRPr sz="3650" dirty="0">
              <a:latin typeface="Arial MT"/>
              <a:cs typeface="Arial MT"/>
            </a:endParaRPr>
          </a:p>
          <a:p>
            <a:pPr algn="ctr">
              <a:lnSpc>
                <a:spcPts val="3675"/>
              </a:lnSpc>
              <a:spcBef>
                <a:spcPts val="20"/>
              </a:spcBef>
            </a:pPr>
            <a:r>
              <a:rPr sz="3250" spc="-150" dirty="0">
                <a:latin typeface="Consolas"/>
                <a:cs typeface="Consolas"/>
              </a:rPr>
              <a:t>Reducing information </a:t>
            </a:r>
            <a:r>
              <a:rPr sz="3250" dirty="0">
                <a:latin typeface="Consolas"/>
                <a:cs typeface="Consolas"/>
              </a:rPr>
              <a:t>asymmetry</a:t>
            </a:r>
            <a:r>
              <a:rPr sz="3250" spc="-150" dirty="0">
                <a:latin typeface="Consolas"/>
                <a:cs typeface="Consolas"/>
              </a:rPr>
              <a:t> in</a:t>
            </a:r>
          </a:p>
          <a:p>
            <a:pPr marR="12065" algn="ctr">
              <a:lnSpc>
                <a:spcPts val="3735"/>
              </a:lnSpc>
            </a:pPr>
            <a:r>
              <a:rPr sz="3300" spc="-150" dirty="0">
                <a:latin typeface="Consolas"/>
                <a:cs typeface="Consolas"/>
              </a:rPr>
              <a:t>the Nepa</a:t>
            </a:r>
            <a:r>
              <a:rPr lang="en-US" sz="3300" spc="-150" dirty="0">
                <a:latin typeface="Consolas"/>
                <a:cs typeface="Consolas"/>
              </a:rPr>
              <a:t>l</a:t>
            </a:r>
            <a:r>
              <a:rPr sz="3300" spc="-150" dirty="0">
                <a:latin typeface="Consolas"/>
                <a:cs typeface="Consolas"/>
              </a:rPr>
              <a:t>i economy.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7475200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A7F34E-D418-47E2-9F86-2C45BBC31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149" y="457575"/>
            <a:ext cx="16550453" cy="8838449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293298" y="4744344"/>
            <a:ext cx="4718304" cy="455168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BF5881F-5641-B7E1-C1FF-150A27F50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1439053"/>
            <a:ext cx="11854300" cy="687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054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17A4AE-0415-3EE4-EE1A-2B6FBEE0D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D9FC6AC-4A12-4825-8ABE-0732B8EF4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7470831" cy="975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0C885F3C-E468-DC43-8D7D-C835364042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40" b="-1"/>
          <a:stretch>
            <a:fillRect/>
          </a:stretch>
        </p:blipFill>
        <p:spPr>
          <a:xfrm>
            <a:off x="1" y="10"/>
            <a:ext cx="17003179" cy="9753590"/>
          </a:xfrm>
          <a:custGeom>
            <a:avLst/>
            <a:gdLst/>
            <a:ahLst/>
            <a:cxnLst/>
            <a:rect l="l" t="t" r="r" b="b"/>
            <a:pathLst>
              <a:path w="11862683" h="6858000">
                <a:moveTo>
                  <a:pt x="0" y="0"/>
                </a:moveTo>
                <a:lnTo>
                  <a:pt x="4038600" y="0"/>
                </a:lnTo>
                <a:lnTo>
                  <a:pt x="4114800" y="0"/>
                </a:lnTo>
                <a:lnTo>
                  <a:pt x="4282294" y="0"/>
                </a:lnTo>
                <a:lnTo>
                  <a:pt x="6139260" y="0"/>
                </a:lnTo>
                <a:lnTo>
                  <a:pt x="6362810" y="0"/>
                </a:lnTo>
                <a:lnTo>
                  <a:pt x="7272221" y="0"/>
                </a:lnTo>
                <a:lnTo>
                  <a:pt x="10815342" y="0"/>
                </a:lnTo>
                <a:cubicBezTo>
                  <a:pt x="10709672" y="35571"/>
                  <a:pt x="10607020" y="78255"/>
                  <a:pt x="10501350" y="110269"/>
                </a:cubicBezTo>
                <a:cubicBezTo>
                  <a:pt x="10516447" y="145839"/>
                  <a:pt x="10531542" y="138725"/>
                  <a:pt x="10546639" y="135168"/>
                </a:cubicBezTo>
                <a:cubicBezTo>
                  <a:pt x="10637212" y="120941"/>
                  <a:pt x="10730806" y="110269"/>
                  <a:pt x="10818360" y="71141"/>
                </a:cubicBezTo>
                <a:cubicBezTo>
                  <a:pt x="10839496" y="64027"/>
                  <a:pt x="10863648" y="64027"/>
                  <a:pt x="10872705" y="88927"/>
                </a:cubicBezTo>
                <a:cubicBezTo>
                  <a:pt x="10887801" y="124497"/>
                  <a:pt x="10866668" y="145839"/>
                  <a:pt x="10845532" y="163625"/>
                </a:cubicBezTo>
                <a:cubicBezTo>
                  <a:pt x="10809304" y="195638"/>
                  <a:pt x="10767036" y="188525"/>
                  <a:pt x="10727787" y="192082"/>
                </a:cubicBezTo>
                <a:cubicBezTo>
                  <a:pt x="10619098" y="209867"/>
                  <a:pt x="10567772" y="259665"/>
                  <a:pt x="10543619" y="373491"/>
                </a:cubicBezTo>
                <a:cubicBezTo>
                  <a:pt x="10637212" y="327250"/>
                  <a:pt x="10730806" y="384162"/>
                  <a:pt x="10821380" y="352148"/>
                </a:cubicBezTo>
                <a:cubicBezTo>
                  <a:pt x="10845532" y="345034"/>
                  <a:pt x="10881763" y="355706"/>
                  <a:pt x="10869686" y="394834"/>
                </a:cubicBezTo>
                <a:cubicBezTo>
                  <a:pt x="10857610" y="430405"/>
                  <a:pt x="10818360" y="458860"/>
                  <a:pt x="10887801" y="451747"/>
                </a:cubicBezTo>
                <a:cubicBezTo>
                  <a:pt x="10939127" y="448189"/>
                  <a:pt x="10954222" y="405504"/>
                  <a:pt x="10969318" y="359262"/>
                </a:cubicBezTo>
                <a:cubicBezTo>
                  <a:pt x="10981394" y="334364"/>
                  <a:pt x="11014605" y="320135"/>
                  <a:pt x="11038758" y="334364"/>
                </a:cubicBezTo>
                <a:cubicBezTo>
                  <a:pt x="11068949" y="348592"/>
                  <a:pt x="11059892" y="387720"/>
                  <a:pt x="11059892" y="416176"/>
                </a:cubicBezTo>
                <a:cubicBezTo>
                  <a:pt x="11062912" y="469532"/>
                  <a:pt x="11038758" y="494431"/>
                  <a:pt x="10996491" y="505101"/>
                </a:cubicBezTo>
                <a:cubicBezTo>
                  <a:pt x="10945164" y="519330"/>
                  <a:pt x="10893840" y="537116"/>
                  <a:pt x="10827418" y="558458"/>
                </a:cubicBezTo>
                <a:cubicBezTo>
                  <a:pt x="10899878" y="594028"/>
                  <a:pt x="10954222" y="586915"/>
                  <a:pt x="11008566" y="558458"/>
                </a:cubicBezTo>
                <a:cubicBezTo>
                  <a:pt x="11074988" y="526444"/>
                  <a:pt x="11162542" y="483759"/>
                  <a:pt x="11216886" y="522887"/>
                </a:cubicBezTo>
                <a:cubicBezTo>
                  <a:pt x="11298403" y="579800"/>
                  <a:pt x="11364824" y="544229"/>
                  <a:pt x="11437284" y="533558"/>
                </a:cubicBezTo>
                <a:cubicBezTo>
                  <a:pt x="11588242" y="512216"/>
                  <a:pt x="11494648" y="480203"/>
                  <a:pt x="11645605" y="462417"/>
                </a:cubicBezTo>
                <a:cubicBezTo>
                  <a:pt x="11705988" y="455303"/>
                  <a:pt x="11769390" y="426847"/>
                  <a:pt x="11856944" y="465975"/>
                </a:cubicBezTo>
                <a:cubicBezTo>
                  <a:pt x="11461437" y="672284"/>
                  <a:pt x="11274250" y="658055"/>
                  <a:pt x="10921012" y="910606"/>
                </a:cubicBezTo>
                <a:cubicBezTo>
                  <a:pt x="10936107" y="935506"/>
                  <a:pt x="10951202" y="924835"/>
                  <a:pt x="10966299" y="921277"/>
                </a:cubicBezTo>
                <a:cubicBezTo>
                  <a:pt x="10990452" y="917720"/>
                  <a:pt x="11020644" y="903491"/>
                  <a:pt x="11026682" y="949734"/>
                </a:cubicBezTo>
                <a:cubicBezTo>
                  <a:pt x="11029702" y="985305"/>
                  <a:pt x="11011585" y="1003089"/>
                  <a:pt x="10981394" y="1006647"/>
                </a:cubicBezTo>
                <a:cubicBezTo>
                  <a:pt x="10893840" y="1020875"/>
                  <a:pt x="10815342" y="1070674"/>
                  <a:pt x="10736844" y="1113358"/>
                </a:cubicBezTo>
                <a:cubicBezTo>
                  <a:pt x="10700615" y="1131144"/>
                  <a:pt x="10661366" y="1156043"/>
                  <a:pt x="10676462" y="1220069"/>
                </a:cubicBezTo>
                <a:cubicBezTo>
                  <a:pt x="10706652" y="1237855"/>
                  <a:pt x="10727787" y="1212955"/>
                  <a:pt x="10751940" y="1209399"/>
                </a:cubicBezTo>
                <a:cubicBezTo>
                  <a:pt x="10776093" y="1205842"/>
                  <a:pt x="10833457" y="1220069"/>
                  <a:pt x="10818360" y="1230741"/>
                </a:cubicBezTo>
                <a:cubicBezTo>
                  <a:pt x="10748920" y="1269868"/>
                  <a:pt x="10875724" y="1365909"/>
                  <a:pt x="10791190" y="1365909"/>
                </a:cubicBezTo>
                <a:cubicBezTo>
                  <a:pt x="10652309" y="1365909"/>
                  <a:pt x="10576830" y="1536647"/>
                  <a:pt x="10443988" y="1540204"/>
                </a:cubicBezTo>
                <a:cubicBezTo>
                  <a:pt x="10422854" y="1540204"/>
                  <a:pt x="10413797" y="1572219"/>
                  <a:pt x="10413797" y="1597117"/>
                </a:cubicBezTo>
                <a:cubicBezTo>
                  <a:pt x="10413797" y="1629132"/>
                  <a:pt x="10434930" y="1632688"/>
                  <a:pt x="10456064" y="1636245"/>
                </a:cubicBezTo>
                <a:cubicBezTo>
                  <a:pt x="10489275" y="1639802"/>
                  <a:pt x="10525504" y="1597117"/>
                  <a:pt x="10567772" y="1657587"/>
                </a:cubicBezTo>
                <a:cubicBezTo>
                  <a:pt x="10489275" y="1693158"/>
                  <a:pt x="10407758" y="1728729"/>
                  <a:pt x="10410777" y="1849668"/>
                </a:cubicBezTo>
                <a:cubicBezTo>
                  <a:pt x="10410777" y="1881683"/>
                  <a:pt x="10377566" y="1895910"/>
                  <a:pt x="10353413" y="1903025"/>
                </a:cubicBezTo>
                <a:cubicBezTo>
                  <a:pt x="10311146" y="1917252"/>
                  <a:pt x="10277935" y="1938595"/>
                  <a:pt x="10253782" y="1984836"/>
                </a:cubicBezTo>
                <a:cubicBezTo>
                  <a:pt x="10253782" y="1995507"/>
                  <a:pt x="10253782" y="2002622"/>
                  <a:pt x="10253782" y="2013292"/>
                </a:cubicBezTo>
                <a:cubicBezTo>
                  <a:pt x="10259820" y="2123562"/>
                  <a:pt x="10320202" y="2120004"/>
                  <a:pt x="10386624" y="2102219"/>
                </a:cubicBezTo>
                <a:cubicBezTo>
                  <a:pt x="10465122" y="2080877"/>
                  <a:pt x="10543619" y="2038192"/>
                  <a:pt x="10628156" y="2077320"/>
                </a:cubicBezTo>
                <a:cubicBezTo>
                  <a:pt x="10510408" y="2130676"/>
                  <a:pt x="10380586" y="2134233"/>
                  <a:pt x="10271896" y="2208931"/>
                </a:cubicBezTo>
                <a:cubicBezTo>
                  <a:pt x="10676462" y="2223159"/>
                  <a:pt x="11032720" y="1984836"/>
                  <a:pt x="11425208" y="1892353"/>
                </a:cubicBezTo>
                <a:cubicBezTo>
                  <a:pt x="11413131" y="1952823"/>
                  <a:pt x="11379920" y="1967051"/>
                  <a:pt x="11352748" y="1974165"/>
                </a:cubicBezTo>
                <a:cubicBezTo>
                  <a:pt x="11207830" y="2020407"/>
                  <a:pt x="11081026" y="2112891"/>
                  <a:pt x="10948184" y="2191146"/>
                </a:cubicBezTo>
                <a:cubicBezTo>
                  <a:pt x="10893840" y="2223159"/>
                  <a:pt x="10854590" y="2258731"/>
                  <a:pt x="10833457" y="2326314"/>
                </a:cubicBezTo>
                <a:cubicBezTo>
                  <a:pt x="10815342" y="2390340"/>
                  <a:pt x="10779112" y="2418796"/>
                  <a:pt x="10712690" y="2401012"/>
                </a:cubicBezTo>
                <a:cubicBezTo>
                  <a:pt x="10658346" y="2386784"/>
                  <a:pt x="10600982" y="2393898"/>
                  <a:pt x="10543619" y="2401012"/>
                </a:cubicBezTo>
                <a:cubicBezTo>
                  <a:pt x="10480218" y="2408126"/>
                  <a:pt x="10407758" y="2479267"/>
                  <a:pt x="10422854" y="2518395"/>
                </a:cubicBezTo>
                <a:cubicBezTo>
                  <a:pt x="10453044" y="2582422"/>
                  <a:pt x="10504370" y="2550408"/>
                  <a:pt x="10546639" y="2543294"/>
                </a:cubicBezTo>
                <a:cubicBezTo>
                  <a:pt x="10597964" y="2536181"/>
                  <a:pt x="10691556" y="2518395"/>
                  <a:pt x="10691556" y="2525509"/>
                </a:cubicBezTo>
                <a:cubicBezTo>
                  <a:pt x="10724768" y="2685576"/>
                  <a:pt x="10800246" y="2564636"/>
                  <a:pt x="10854590" y="2564636"/>
                </a:cubicBezTo>
                <a:cubicBezTo>
                  <a:pt x="10905916" y="2564636"/>
                  <a:pt x="10957241" y="2546851"/>
                  <a:pt x="11005548" y="2532623"/>
                </a:cubicBezTo>
                <a:cubicBezTo>
                  <a:pt x="11068949" y="2514837"/>
                  <a:pt x="11126312" y="2546851"/>
                  <a:pt x="11186696" y="2553965"/>
                </a:cubicBezTo>
                <a:cubicBezTo>
                  <a:pt x="11241040" y="2561080"/>
                  <a:pt x="11210850" y="2653563"/>
                  <a:pt x="11244060" y="2692689"/>
                </a:cubicBezTo>
                <a:cubicBezTo>
                  <a:pt x="11250097" y="2703362"/>
                  <a:pt x="11256136" y="2703362"/>
                  <a:pt x="11262174" y="2703362"/>
                </a:cubicBezTo>
                <a:cubicBezTo>
                  <a:pt x="11280289" y="2980812"/>
                  <a:pt x="11597299" y="2913227"/>
                  <a:pt x="11597299" y="2923898"/>
                </a:cubicBezTo>
                <a:cubicBezTo>
                  <a:pt x="11624471" y="2941684"/>
                  <a:pt x="11657682" y="2899000"/>
                  <a:pt x="11690892" y="2941684"/>
                </a:cubicBezTo>
                <a:cubicBezTo>
                  <a:pt x="11548993" y="3137322"/>
                  <a:pt x="11331614" y="3183563"/>
                  <a:pt x="11138390" y="3329402"/>
                </a:cubicBezTo>
                <a:cubicBezTo>
                  <a:pt x="11298403" y="3379202"/>
                  <a:pt x="11391998" y="3208463"/>
                  <a:pt x="11509744" y="3229805"/>
                </a:cubicBezTo>
                <a:cubicBezTo>
                  <a:pt x="11567107" y="3283162"/>
                  <a:pt x="11395016" y="3368530"/>
                  <a:pt x="11561068" y="3393429"/>
                </a:cubicBezTo>
                <a:cubicBezTo>
                  <a:pt x="11488610" y="3439672"/>
                  <a:pt x="11437284" y="3485914"/>
                  <a:pt x="11385959" y="3539269"/>
                </a:cubicBezTo>
                <a:cubicBezTo>
                  <a:pt x="11298403" y="3635309"/>
                  <a:pt x="11280289" y="3699337"/>
                  <a:pt x="11322556" y="3827390"/>
                </a:cubicBezTo>
                <a:cubicBezTo>
                  <a:pt x="11349730" y="3912759"/>
                  <a:pt x="11388978" y="3991015"/>
                  <a:pt x="11352748" y="4090612"/>
                </a:cubicBezTo>
                <a:cubicBezTo>
                  <a:pt x="11328595" y="4158196"/>
                  <a:pt x="11337653" y="4204438"/>
                  <a:pt x="11428226" y="4172424"/>
                </a:cubicBezTo>
                <a:cubicBezTo>
                  <a:pt x="11524840" y="4140411"/>
                  <a:pt x="11561068" y="4200882"/>
                  <a:pt x="11536915" y="4321821"/>
                </a:cubicBezTo>
                <a:cubicBezTo>
                  <a:pt x="11521821" y="4400076"/>
                  <a:pt x="11536915" y="4424975"/>
                  <a:pt x="11603338" y="4414305"/>
                </a:cubicBezTo>
                <a:cubicBezTo>
                  <a:pt x="11675796" y="4403633"/>
                  <a:pt x="11745236" y="4353835"/>
                  <a:pt x="11835811" y="4378734"/>
                </a:cubicBezTo>
                <a:cubicBezTo>
                  <a:pt x="11763352" y="4521016"/>
                  <a:pt x="11609374" y="4478331"/>
                  <a:pt x="11524840" y="4613499"/>
                </a:cubicBezTo>
                <a:cubicBezTo>
                  <a:pt x="11624471" y="4613499"/>
                  <a:pt x="11702969" y="4613499"/>
                  <a:pt x="11775427" y="4585042"/>
                </a:cubicBezTo>
                <a:cubicBezTo>
                  <a:pt x="11805619" y="4574373"/>
                  <a:pt x="11838830" y="4560144"/>
                  <a:pt x="11856944" y="4602828"/>
                </a:cubicBezTo>
                <a:cubicBezTo>
                  <a:pt x="11878080" y="4652628"/>
                  <a:pt x="11835811" y="4670412"/>
                  <a:pt x="11811658" y="4677526"/>
                </a:cubicBezTo>
                <a:cubicBezTo>
                  <a:pt x="11742216" y="4702425"/>
                  <a:pt x="11687874" y="4759339"/>
                  <a:pt x="11627490" y="4805580"/>
                </a:cubicBezTo>
                <a:cubicBezTo>
                  <a:pt x="11497668" y="4905177"/>
                  <a:pt x="11355767" y="4990547"/>
                  <a:pt x="11247078" y="5154171"/>
                </a:cubicBezTo>
                <a:cubicBezTo>
                  <a:pt x="11382940" y="5111487"/>
                  <a:pt x="11485590" y="5011889"/>
                  <a:pt x="11615414" y="4994104"/>
                </a:cubicBezTo>
                <a:cubicBezTo>
                  <a:pt x="11503704" y="5143500"/>
                  <a:pt x="11361806" y="5243097"/>
                  <a:pt x="11228964" y="5353367"/>
                </a:cubicBezTo>
                <a:cubicBezTo>
                  <a:pt x="11189714" y="5385379"/>
                  <a:pt x="11150466" y="5406721"/>
                  <a:pt x="11144428" y="5474306"/>
                </a:cubicBezTo>
                <a:cubicBezTo>
                  <a:pt x="11126312" y="5605917"/>
                  <a:pt x="11078008" y="5712629"/>
                  <a:pt x="10969318" y="5769542"/>
                </a:cubicBezTo>
                <a:cubicBezTo>
                  <a:pt x="10969318" y="5769542"/>
                  <a:pt x="10975356" y="5790884"/>
                  <a:pt x="10978374" y="5801555"/>
                </a:cubicBezTo>
                <a:cubicBezTo>
                  <a:pt x="11044797" y="5805112"/>
                  <a:pt x="11096122" y="5726858"/>
                  <a:pt x="11177639" y="5755314"/>
                </a:cubicBezTo>
                <a:cubicBezTo>
                  <a:pt x="11096122" y="5862025"/>
                  <a:pt x="11029702" y="5954508"/>
                  <a:pt x="10917992" y="6004307"/>
                </a:cubicBezTo>
                <a:cubicBezTo>
                  <a:pt x="10827418" y="6043434"/>
                  <a:pt x="10715710" y="6068335"/>
                  <a:pt x="10649289" y="6196388"/>
                </a:cubicBezTo>
                <a:cubicBezTo>
                  <a:pt x="10724768" y="6221287"/>
                  <a:pt x="10782132" y="6189274"/>
                  <a:pt x="10839496" y="6167932"/>
                </a:cubicBezTo>
                <a:cubicBezTo>
                  <a:pt x="10927050" y="6132361"/>
                  <a:pt x="11014605" y="6093234"/>
                  <a:pt x="11102160" y="6057663"/>
                </a:cubicBezTo>
                <a:cubicBezTo>
                  <a:pt x="11135372" y="6043434"/>
                  <a:pt x="11171600" y="6036320"/>
                  <a:pt x="11192734" y="6100347"/>
                </a:cubicBezTo>
                <a:cubicBezTo>
                  <a:pt x="11081026" y="6114575"/>
                  <a:pt x="11014605" y="6199945"/>
                  <a:pt x="10945164" y="6281757"/>
                </a:cubicBezTo>
                <a:cubicBezTo>
                  <a:pt x="10905916" y="6327999"/>
                  <a:pt x="10872705" y="6388469"/>
                  <a:pt x="10803265" y="6367127"/>
                </a:cubicBezTo>
                <a:cubicBezTo>
                  <a:pt x="10767036" y="6356456"/>
                  <a:pt x="10742882" y="6388469"/>
                  <a:pt x="10745901" y="6431153"/>
                </a:cubicBezTo>
                <a:cubicBezTo>
                  <a:pt x="10760998" y="6580550"/>
                  <a:pt x="10673442" y="6630349"/>
                  <a:pt x="10582868" y="6658805"/>
                </a:cubicBezTo>
                <a:cubicBezTo>
                  <a:pt x="10450026" y="6701489"/>
                  <a:pt x="10332280" y="6786859"/>
                  <a:pt x="10208496" y="6858000"/>
                </a:cubicBezTo>
                <a:lnTo>
                  <a:pt x="7272221" y="6858000"/>
                </a:lnTo>
                <a:lnTo>
                  <a:pt x="6362810" y="6858000"/>
                </a:lnTo>
                <a:lnTo>
                  <a:pt x="6139260" y="6858000"/>
                </a:lnTo>
                <a:lnTo>
                  <a:pt x="4282294" y="6858000"/>
                </a:lnTo>
                <a:lnTo>
                  <a:pt x="4114800" y="6858000"/>
                </a:lnTo>
                <a:lnTo>
                  <a:pt x="40386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22125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6300" y="5422900"/>
            <a:ext cx="13195300" cy="11176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37360" y="1032272"/>
            <a:ext cx="15800480" cy="999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100"/>
              </a:spcBef>
            </a:pPr>
            <a:r>
              <a:rPr b="1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Conclusion &amp; Future Directions</a:t>
            </a:r>
            <a:r>
              <a:rPr lang="en-US" b="1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 </a:t>
            </a:r>
            <a:endParaRPr b="1" dirty="0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9434" y="2687752"/>
            <a:ext cx="13482307" cy="987065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18415" marR="5080" indent="-6350">
              <a:lnSpc>
                <a:spcPts val="6700"/>
              </a:lnSpc>
              <a:spcBef>
                <a:spcPts val="1405"/>
              </a:spcBef>
              <a:tabLst>
                <a:tab pos="2111375" algn="l"/>
                <a:tab pos="2501265" algn="l"/>
                <a:tab pos="3384550" algn="l"/>
                <a:tab pos="5024120" algn="l"/>
                <a:tab pos="5047615" algn="l"/>
                <a:tab pos="7563484" algn="l"/>
              </a:tabLst>
            </a:pPr>
            <a:r>
              <a:rPr sz="4800" b="1" spc="-150" dirty="0">
                <a:solidFill>
                  <a:srgbClr val="0F2A41"/>
                </a:solidFill>
                <a:latin typeface="Calibri"/>
                <a:cs typeface="Calibri"/>
              </a:rPr>
              <a:t>LST</a:t>
            </a:r>
            <a:r>
              <a:rPr lang="en-US" sz="4800" b="1" spc="-150" dirty="0">
                <a:solidFill>
                  <a:srgbClr val="0F2A41"/>
                </a:solidFill>
                <a:latin typeface="Calibri"/>
                <a:cs typeface="Calibri"/>
              </a:rPr>
              <a:t>M </a:t>
            </a:r>
            <a:r>
              <a:rPr sz="4800" b="1" spc="-150" dirty="0">
                <a:solidFill>
                  <a:srgbClr val="0C263F"/>
                </a:solidFill>
                <a:latin typeface="Calibri"/>
                <a:cs typeface="Calibri"/>
              </a:rPr>
              <a:t>is</a:t>
            </a:r>
            <a:r>
              <a:rPr lang="en-US" sz="4800" b="1" spc="-150" dirty="0">
                <a:solidFill>
                  <a:srgbClr val="0C263F"/>
                </a:solidFill>
                <a:latin typeface="Calibri"/>
                <a:cs typeface="Calibri"/>
              </a:rPr>
              <a:t> </a:t>
            </a:r>
            <a:r>
              <a:rPr sz="4800" b="1" spc="-150" dirty="0">
                <a:solidFill>
                  <a:srgbClr val="0C2642"/>
                </a:solidFill>
                <a:latin typeface="Calibri"/>
                <a:cs typeface="Calibri"/>
              </a:rPr>
              <a:t>the</a:t>
            </a:r>
            <a:r>
              <a:rPr lang="en-US" sz="4800" b="1" spc="-150" dirty="0">
                <a:solidFill>
                  <a:srgbClr val="0C2642"/>
                </a:solidFill>
                <a:latin typeface="Calibri"/>
                <a:cs typeface="Calibri"/>
              </a:rPr>
              <a:t> </a:t>
            </a:r>
            <a:r>
              <a:rPr sz="4800" b="1" spc="-150" dirty="0">
                <a:solidFill>
                  <a:srgbClr val="0E1F36"/>
                </a:solidFill>
                <a:latin typeface="Calibri"/>
                <a:cs typeface="Calibri"/>
              </a:rPr>
              <a:t>va</a:t>
            </a:r>
            <a:r>
              <a:rPr lang="en-US" sz="4800" b="1" spc="-150" dirty="0">
                <a:solidFill>
                  <a:srgbClr val="0E1F36"/>
                </a:solidFill>
                <a:latin typeface="Calibri"/>
                <a:cs typeface="Calibri"/>
              </a:rPr>
              <a:t>l</a:t>
            </a:r>
            <a:r>
              <a:rPr sz="4800" b="1" spc="-150" dirty="0">
                <a:solidFill>
                  <a:srgbClr val="0E1F36"/>
                </a:solidFill>
                <a:latin typeface="Calibri"/>
                <a:cs typeface="Calibri"/>
              </a:rPr>
              <a:t>id</a:t>
            </a:r>
            <a:r>
              <a:rPr lang="en-US" sz="4800" b="1" spc="-150" dirty="0">
                <a:solidFill>
                  <a:srgbClr val="0E1F36"/>
                </a:solidFill>
                <a:latin typeface="Calibri"/>
                <a:cs typeface="Calibri"/>
              </a:rPr>
              <a:t> </a:t>
            </a:r>
            <a:r>
              <a:rPr sz="4800" b="1" spc="-150" dirty="0">
                <a:solidFill>
                  <a:srgbClr val="0C2133"/>
                </a:solidFill>
                <a:latin typeface="Calibri"/>
                <a:cs typeface="Calibri"/>
              </a:rPr>
              <a:t>architecture</a:t>
            </a:r>
            <a:r>
              <a:rPr lang="en-US" sz="4800" b="1" spc="-150" dirty="0">
                <a:solidFill>
                  <a:srgbClr val="0C2133"/>
                </a:solidFill>
                <a:latin typeface="Calibri"/>
                <a:cs typeface="Calibri"/>
              </a:rPr>
              <a:t> for </a:t>
            </a:r>
            <a:r>
              <a:rPr sz="4800" b="1" spc="-150" dirty="0">
                <a:solidFill>
                  <a:srgbClr val="0C263F"/>
                </a:solidFill>
                <a:latin typeface="Calibri"/>
                <a:cs typeface="Calibri"/>
              </a:rPr>
              <a:t>dail</a:t>
            </a:r>
            <a:r>
              <a:rPr lang="en-US" sz="4800" b="1" spc="-150" dirty="0">
                <a:solidFill>
                  <a:srgbClr val="0C263F"/>
                </a:solidFill>
                <a:latin typeface="Calibri"/>
                <a:cs typeface="Calibri"/>
              </a:rPr>
              <a:t>y </a:t>
            </a:r>
            <a:r>
              <a:rPr sz="4800" b="1" spc="-150" dirty="0">
                <a:solidFill>
                  <a:srgbClr val="0C233B"/>
                </a:solidFill>
                <a:latin typeface="Calibri"/>
                <a:cs typeface="Calibri"/>
              </a:rPr>
              <a:t>NEPSE</a:t>
            </a:r>
            <a:r>
              <a:rPr lang="en-US" sz="4800" b="1" spc="-150" dirty="0">
                <a:solidFill>
                  <a:srgbClr val="0C233B"/>
                </a:solidFill>
                <a:latin typeface="Calibri"/>
                <a:cs typeface="Calibri"/>
              </a:rPr>
              <a:t> </a:t>
            </a:r>
            <a:r>
              <a:rPr sz="4800" b="1" spc="-150" dirty="0">
                <a:solidFill>
                  <a:srgbClr val="0E233B"/>
                </a:solidFill>
                <a:latin typeface="Calibri"/>
                <a:cs typeface="Calibri"/>
              </a:rPr>
              <a:t>prediction.</a:t>
            </a:r>
            <a:endParaRPr sz="4800" b="1" spc="-15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2968" y="4446763"/>
            <a:ext cx="4273232" cy="663643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00" b="1" spc="-235" dirty="0">
                <a:solidFill>
                  <a:srgbClr val="071A2A"/>
                </a:solidFill>
                <a:latin typeface="Arial MT"/>
                <a:cs typeface="Arial MT"/>
              </a:rPr>
              <a:t>Future</a:t>
            </a:r>
            <a:r>
              <a:rPr sz="4200" b="1" spc="-105" dirty="0">
                <a:solidFill>
                  <a:srgbClr val="071A2A"/>
                </a:solidFill>
                <a:latin typeface="Arial MT"/>
                <a:cs typeface="Arial MT"/>
              </a:rPr>
              <a:t> </a:t>
            </a:r>
            <a:r>
              <a:rPr sz="4200" b="1" spc="-380" dirty="0">
                <a:solidFill>
                  <a:srgbClr val="051624"/>
                </a:solidFill>
                <a:latin typeface="Arial MT"/>
                <a:cs typeface="Arial MT"/>
              </a:rPr>
              <a:t>Roadmap</a:t>
            </a:r>
            <a:endParaRPr sz="4200" b="1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2551" y="6654297"/>
            <a:ext cx="4225886" cy="1961434"/>
          </a:xfrm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755"/>
              </a:spcBef>
            </a:pPr>
            <a:r>
              <a:rPr sz="3450" dirty="0">
                <a:solidFill>
                  <a:srgbClr val="111111"/>
                </a:solidFill>
                <a:latin typeface="Arial MT"/>
                <a:cs typeface="Arial MT"/>
              </a:rPr>
              <a:t>Extended</a:t>
            </a:r>
            <a:r>
              <a:rPr sz="3450" spc="-70" dirty="0">
                <a:solidFill>
                  <a:srgbClr val="111111"/>
                </a:solidFill>
                <a:latin typeface="Arial MT"/>
                <a:cs typeface="Arial MT"/>
              </a:rPr>
              <a:t> </a:t>
            </a:r>
            <a:r>
              <a:rPr sz="3450" spc="-10" dirty="0">
                <a:solidFill>
                  <a:srgbClr val="111111"/>
                </a:solidFill>
                <a:latin typeface="Arial MT"/>
                <a:cs typeface="Arial MT"/>
              </a:rPr>
              <a:t>Horizon</a:t>
            </a:r>
            <a:endParaRPr sz="3450" dirty="0">
              <a:latin typeface="Arial MT"/>
              <a:cs typeface="Arial MT"/>
            </a:endParaRPr>
          </a:p>
          <a:p>
            <a:pPr marL="382270" marR="339725" algn="ctr">
              <a:lnSpc>
                <a:spcPts val="3550"/>
              </a:lnSpc>
              <a:spcBef>
                <a:spcPts val="2170"/>
              </a:spcBef>
            </a:pPr>
            <a:r>
              <a:rPr sz="3400" dirty="0">
                <a:latin typeface="Consolas" panose="020B0609020204030204" pitchFamily="49" charset="0"/>
                <a:cs typeface="Consolas" panose="020B0609020204030204" pitchFamily="49" charset="0"/>
              </a:rPr>
              <a:t>Weekly/Monthly forecasting.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239231" y="6647470"/>
            <a:ext cx="2992755" cy="1961434"/>
          </a:xfrm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755"/>
              </a:spcBef>
            </a:pPr>
            <a:r>
              <a:rPr sz="3450" dirty="0">
                <a:solidFill>
                  <a:srgbClr val="0C0C0C"/>
                </a:solidFill>
                <a:latin typeface="Arial MT"/>
                <a:cs typeface="Arial MT"/>
              </a:rPr>
              <a:t>Hybrid</a:t>
            </a:r>
            <a:r>
              <a:rPr sz="3450" spc="9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3450" spc="-10" dirty="0">
                <a:solidFill>
                  <a:srgbClr val="161616"/>
                </a:solidFill>
                <a:latin typeface="Arial MT"/>
                <a:cs typeface="Arial MT"/>
              </a:rPr>
              <a:t>Models</a:t>
            </a:r>
            <a:endParaRPr sz="3450" dirty="0">
              <a:latin typeface="Arial MT"/>
              <a:cs typeface="Arial MT"/>
            </a:endParaRPr>
          </a:p>
          <a:p>
            <a:pPr marL="12700" marR="5080" algn="ctr">
              <a:lnSpc>
                <a:spcPts val="3550"/>
              </a:lnSpc>
              <a:spcBef>
                <a:spcPts val="2170"/>
              </a:spcBef>
            </a:pPr>
            <a:r>
              <a:rPr sz="3400" dirty="0">
                <a:latin typeface="Consolas" panose="020B0609020204030204" pitchFamily="49" charset="0"/>
                <a:cs typeface="Consolas" panose="020B0609020204030204" pitchFamily="49" charset="0"/>
              </a:rPr>
              <a:t>Ensemble LSTM + CNN.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3545489" y="6647470"/>
            <a:ext cx="2407920" cy="2423099"/>
          </a:xfrm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marR="29209" algn="ctr">
              <a:lnSpc>
                <a:spcPct val="100000"/>
              </a:lnSpc>
              <a:spcBef>
                <a:spcPts val="1755"/>
              </a:spcBef>
            </a:pPr>
            <a:r>
              <a:rPr sz="3450" spc="-10" dirty="0">
                <a:solidFill>
                  <a:srgbClr val="0F0F0F"/>
                </a:solidFill>
                <a:latin typeface="Arial MT"/>
                <a:cs typeface="Arial MT"/>
              </a:rPr>
              <a:t>Deployment</a:t>
            </a:r>
            <a:endParaRPr sz="3450" dirty="0">
              <a:latin typeface="Arial MT"/>
              <a:cs typeface="Arial MT"/>
            </a:endParaRPr>
          </a:p>
          <a:p>
            <a:pPr marL="12700" marR="5080" indent="1905" algn="ctr">
              <a:lnSpc>
                <a:spcPts val="3550"/>
              </a:lnSpc>
              <a:spcBef>
                <a:spcPts val="2170"/>
              </a:spcBef>
            </a:pPr>
            <a:r>
              <a:rPr sz="3400" dirty="0">
                <a:latin typeface="Consolas" panose="020B0609020204030204" pitchFamily="49" charset="0"/>
                <a:cs typeface="Consolas" panose="020B0609020204030204" pitchFamily="49" charset="0"/>
              </a:rPr>
              <a:t>Real-time trading API.</a:t>
            </a: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6C914DE8-755A-CA0B-065F-B922CDD194B5}"/>
              </a:ext>
            </a:extLst>
          </p:cNvPr>
          <p:cNvSpPr txBox="1"/>
          <p:nvPr/>
        </p:nvSpPr>
        <p:spPr>
          <a:xfrm>
            <a:off x="8901799" y="6655893"/>
            <a:ext cx="3854966" cy="2884764"/>
          </a:xfrm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755"/>
              </a:spcBef>
            </a:pPr>
            <a:r>
              <a:rPr lang="en-US" sz="3450" dirty="0">
                <a:solidFill>
                  <a:srgbClr val="0C0C0C"/>
                </a:solidFill>
                <a:latin typeface="Arial MT"/>
                <a:cs typeface="Arial MT"/>
              </a:rPr>
              <a:t>Extend Data</a:t>
            </a:r>
            <a:endParaRPr sz="3450" dirty="0">
              <a:latin typeface="Arial MT"/>
              <a:cs typeface="Arial MT"/>
            </a:endParaRPr>
          </a:p>
          <a:p>
            <a:pPr marL="12700" marR="5080" algn="ctr">
              <a:lnSpc>
                <a:spcPts val="3550"/>
              </a:lnSpc>
              <a:spcBef>
                <a:spcPts val="2170"/>
              </a:spcBef>
            </a:pPr>
            <a:r>
              <a:rPr lang="en-US" sz="3400" dirty="0">
                <a:latin typeface="Consolas" panose="020B0609020204030204" pitchFamily="49" charset="0"/>
                <a:cs typeface="Consolas" panose="020B0609020204030204" pitchFamily="49" charset="0"/>
              </a:rPr>
              <a:t>Integrate data such as News Sentiment, Sector Index</a:t>
            </a:r>
            <a:endParaRPr sz="3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812</Words>
  <Application>Microsoft Macintosh PowerPoint</Application>
  <PresentationFormat>Custom</PresentationFormat>
  <Paragraphs>137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MT</vt:lpstr>
      <vt:lpstr>Calibri</vt:lpstr>
      <vt:lpstr>Cambria</vt:lpstr>
      <vt:lpstr>Consolas</vt:lpstr>
      <vt:lpstr>Courier New</vt:lpstr>
      <vt:lpstr>Times New Roman</vt:lpstr>
      <vt:lpstr>Office Theme</vt:lpstr>
      <vt:lpstr>Comparative Analysis of  Deep Learning Architectures  (LSTM, CNN, and Transformers) for NEPSE Stock Price Prediction</vt:lpstr>
      <vt:lpstr>The Challenge of Emerging Markets: Why NEPSE?</vt:lpstr>
      <vt:lpstr>The Protagonists: Three Architectures</vt:lpstr>
      <vt:lpstr>Research Evidences in Financial Forecasting</vt:lpstr>
      <vt:lpstr>17 Commercial Banks (NABIL, NICA, SCB, etc.)</vt:lpstr>
      <vt:lpstr>PowerPoint Presentation</vt:lpstr>
      <vt:lpstr>Implementation &amp; Training Configuration</vt:lpstr>
      <vt:lpstr>Model Architectures &amp; Logic</vt:lpstr>
      <vt:lpstr>Performance Comparison Results</vt:lpstr>
      <vt:lpstr>Visualizing Predictions vs. Reality</vt:lpstr>
      <vt:lpstr>Critical Analysis of Findings</vt:lpstr>
      <vt:lpstr>Key Findings &amp; Impact</vt:lpstr>
      <vt:lpstr>Real-World Applications</vt:lpstr>
      <vt:lpstr>PowerPoint Presentation</vt:lpstr>
      <vt:lpstr>PowerPoint Presentation</vt:lpstr>
      <vt:lpstr>Conclusion &amp; Future Directions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Amiks Karki</cp:lastModifiedBy>
  <cp:revision>1</cp:revision>
  <dcterms:created xsi:type="dcterms:W3CDTF">2026-01-21T08:04:41Z</dcterms:created>
  <dcterms:modified xsi:type="dcterms:W3CDTF">2026-01-21T08:39:08Z</dcterms:modified>
</cp:coreProperties>
</file>